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F1B"/>
    <a:srgbClr val="C23F18"/>
    <a:srgbClr val="00A1CC"/>
    <a:srgbClr val="306298"/>
    <a:srgbClr val="E09F00"/>
    <a:srgbClr val="A37EC8"/>
    <a:srgbClr val="682F7F"/>
    <a:srgbClr val="003F2B"/>
    <a:srgbClr val="3F9D8A"/>
    <a:srgbClr val="006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4626"/>
  </p:normalViewPr>
  <p:slideViewPr>
    <p:cSldViewPr snapToGrid="0" snapToObjects="1">
      <p:cViewPr>
        <p:scale>
          <a:sx n="75" d="100"/>
          <a:sy n="75" d="100"/>
        </p:scale>
        <p:origin x="84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8" d="100"/>
          <a:sy n="58" d="100"/>
        </p:scale>
        <p:origin x="282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Annotations, captions, and titles and sources, highlighting values, saving,  thousands, legends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96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fortawesome.github.io/Font-Awesome/cheatsheet/" TargetMode="External"/><Relationship Id="rId5" Type="http://schemas.openxmlformats.org/officeDocument/2006/relationships/hyperlink" Target="https://rstudio.github.io/cheatsheets/data-visualization.pdf" TargetMode="External"/><Relationship Id="rId4" Type="http://schemas.openxmlformats.org/officeDocument/2006/relationships/hyperlink" Target="https://creativecommons.org/licenses/by-sa/4.0/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105" y="-684523"/>
            <a:ext cx="5603817" cy="2992964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4" name="Group"/>
          <p:cNvSpPr/>
          <p:nvPr/>
        </p:nvSpPr>
        <p:spPr>
          <a:xfrm>
            <a:off x="165185" y="1521631"/>
            <a:ext cx="4346831" cy="8605112"/>
          </a:xfrm>
          <a:prstGeom prst="rect">
            <a:avLst/>
          </a:prstGeom>
          <a:solidFill>
            <a:srgbClr val="79B0DC">
              <a:alpha val="2377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endParaRPr lang="en-GB" b="0" dirty="0"/>
          </a:p>
        </p:txBody>
      </p:sp>
      <p:sp>
        <p:nvSpPr>
          <p:cNvPr id="318" name="Line"/>
          <p:cNvSpPr/>
          <p:nvPr/>
        </p:nvSpPr>
        <p:spPr>
          <a:xfrm>
            <a:off x="9426688" y="153035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9" name="Basics"/>
          <p:cNvSpPr txBox="1"/>
          <p:nvPr/>
        </p:nvSpPr>
        <p:spPr>
          <a:xfrm>
            <a:off x="306210" y="1513461"/>
            <a:ext cx="87376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dirty="0"/>
              <a:t>Basics</a:t>
            </a:r>
          </a:p>
        </p:txBody>
      </p:sp>
      <p:sp>
        <p:nvSpPr>
          <p:cNvPr id="321" name="Remember that the best cheatsheets are visual—not written—documents. Whenever possible use visual elements to make it easier for readers to find the information they need."/>
          <p:cNvSpPr txBox="1"/>
          <p:nvPr/>
        </p:nvSpPr>
        <p:spPr>
          <a:xfrm>
            <a:off x="311956" y="2551262"/>
            <a:ext cx="4140391" cy="63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Semibd" panose="020B0704030502020203" pitchFamily="34" charset="0"/>
              </a:rPr>
              <a:t>ggplot2</a:t>
            </a:r>
            <a:r>
              <a:rPr lang="en-GB" dirty="0">
                <a:latin typeface="National-LFSN Book" panose="020B0504030502020203" pitchFamily="34" charset="0"/>
              </a:rPr>
              <a:t> </a:t>
            </a:r>
            <a:r>
              <a:rPr lang="en-GB" b="0" dirty="0">
                <a:latin typeface="National-LFSN Book" panose="020B0504030502020203" pitchFamily="34" charset="0"/>
              </a:rPr>
              <a:t>is based on the </a:t>
            </a:r>
            <a:r>
              <a:rPr lang="en-GB" dirty="0">
                <a:latin typeface="National-LFSN Book" panose="020B0504030502020203" pitchFamily="34" charset="0"/>
              </a:rPr>
              <a:t>grammar of graphics</a:t>
            </a:r>
            <a:r>
              <a:rPr lang="en-GB" b="0" dirty="0">
                <a:latin typeface="National-LFSN Book" panose="020B0504030502020203" pitchFamily="34" charset="0"/>
              </a:rPr>
              <a:t>, the idea that you can build every graph from the same </a:t>
            </a:r>
            <a:r>
              <a:rPr lang="en-GB" dirty="0">
                <a:latin typeface="National-LFSN Book" panose="020B0504030502020203" pitchFamily="34" charset="0"/>
              </a:rPr>
              <a:t>components</a:t>
            </a:r>
            <a:r>
              <a:rPr lang="en-GB" b="0" dirty="0">
                <a:latin typeface="National-LFSN Book" panose="020B0504030502020203" pitchFamily="34" charset="0"/>
              </a:rPr>
              <a:t>: </a:t>
            </a:r>
            <a:r>
              <a:rPr lang="en-GB" dirty="0">
                <a:latin typeface="National-LFSN Book" panose="020B0504030502020203" pitchFamily="34" charset="0"/>
              </a:rPr>
              <a:t>a </a:t>
            </a:r>
            <a:r>
              <a:rPr lang="en-GB" dirty="0">
                <a:latin typeface="National-LFSN Semibd" panose="020B0704030502020203" pitchFamily="34" charset="0"/>
              </a:rPr>
              <a:t>data</a:t>
            </a:r>
            <a:r>
              <a:rPr lang="en-GB" dirty="0">
                <a:latin typeface="National-LFSN Book" panose="020B0504030502020203" pitchFamily="34" charset="0"/>
              </a:rPr>
              <a:t> </a:t>
            </a:r>
            <a:r>
              <a:rPr lang="en-GB" b="0" dirty="0">
                <a:latin typeface="National-LFSN Book" panose="020B0504030502020203" pitchFamily="34" charset="0"/>
              </a:rPr>
              <a:t>set, a </a:t>
            </a:r>
            <a:r>
              <a:rPr lang="en-GB" dirty="0">
                <a:latin typeface="National-LFSN Semibd" panose="020B0704030502020203" pitchFamily="34" charset="0"/>
              </a:rPr>
              <a:t>coordinate</a:t>
            </a:r>
            <a:r>
              <a:rPr lang="en-GB" dirty="0">
                <a:latin typeface="National-LFSN Book" panose="020B0504030502020203" pitchFamily="34" charset="0"/>
              </a:rPr>
              <a:t> system</a:t>
            </a:r>
            <a:r>
              <a:rPr lang="en-GB" b="0" dirty="0">
                <a:latin typeface="National-LFSN Book" panose="020B0504030502020203" pitchFamily="34" charset="0"/>
              </a:rPr>
              <a:t>, and </a:t>
            </a:r>
            <a:r>
              <a:rPr lang="en-GB" dirty="0" err="1">
                <a:latin typeface="National-LFSN Semibd" panose="020B0704030502020203" pitchFamily="34" charset="0"/>
              </a:rPr>
              <a:t>geoms</a:t>
            </a:r>
            <a:r>
              <a:rPr lang="en-GB" b="0" dirty="0">
                <a:latin typeface="National-LFSN Book" panose="020B0504030502020203" pitchFamily="34" charset="0"/>
              </a:rPr>
              <a:t>—visual marks that represent data points. </a:t>
            </a:r>
            <a:endParaRPr dirty="0">
              <a:latin typeface="National-LFSN Book" panose="020B0504030502020203" pitchFamily="34" charset="0"/>
            </a:endParaRPr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7903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dirty="0"/>
              <a:t>•  </a:t>
            </a:r>
            <a:r>
              <a:rPr dirty="0">
                <a:hlinkClick r:id="rId4"/>
              </a:rPr>
              <a:t>CC BY SA</a:t>
            </a:r>
            <a:r>
              <a:rPr dirty="0"/>
              <a:t> </a:t>
            </a:r>
            <a:r>
              <a:rPr lang="en-GB" dirty="0"/>
              <a:t>Gayle Leen</a:t>
            </a:r>
            <a:r>
              <a:rPr dirty="0"/>
              <a:t> •  </a:t>
            </a:r>
            <a:r>
              <a:rPr lang="en-GB" dirty="0" err="1"/>
              <a:t>leen.gayle</a:t>
            </a:r>
            <a:r>
              <a:rPr dirty="0"/>
              <a:t>@</a:t>
            </a:r>
            <a:r>
              <a:rPr lang="en-GB" dirty="0"/>
              <a:t>parliament</a:t>
            </a:r>
            <a:r>
              <a:rPr dirty="0"/>
              <a:t>.</a:t>
            </a:r>
            <a:r>
              <a:rPr lang="en-GB" dirty="0" err="1"/>
              <a:t>uk</a:t>
            </a:r>
            <a:r>
              <a:rPr dirty="0"/>
              <a:t>  •  Updated: 20</a:t>
            </a:r>
            <a:r>
              <a:rPr lang="en-GB" dirty="0"/>
              <a:t>26</a:t>
            </a:r>
            <a:r>
              <a:rPr dirty="0"/>
              <a:t>-0</a:t>
            </a:r>
            <a:r>
              <a:rPr lang="en-GB" dirty="0"/>
              <a:t>4</a:t>
            </a:r>
            <a:endParaRPr dirty="0"/>
          </a:p>
        </p:txBody>
      </p:sp>
      <p:sp>
        <p:nvSpPr>
          <p:cNvPr id="323" name="Thank you for making a new cheatsheet for R! These cheatsheets have an important job:"/>
          <p:cNvSpPr txBox="1"/>
          <p:nvPr/>
        </p:nvSpPr>
        <p:spPr>
          <a:xfrm>
            <a:off x="323328" y="2070100"/>
            <a:ext cx="4116131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n-GB" b="1" dirty="0" err="1">
                <a:latin typeface="National-LFSN Book" panose="020B0504030502020203" pitchFamily="34" charset="0"/>
              </a:rPr>
              <a:t>clcharts</a:t>
            </a:r>
            <a:r>
              <a:rPr lang="en-GB" b="1" dirty="0">
                <a:latin typeface="National-LFSN Book" panose="020B0504030502020203" pitchFamily="34" charset="0"/>
              </a:rPr>
              <a:t> </a:t>
            </a:r>
            <a:r>
              <a:rPr lang="en-GB" b="0" dirty="0">
                <a:latin typeface="National-LFSN Book" panose="020B0504030502020203" pitchFamily="34" charset="0"/>
              </a:rPr>
              <a:t>creates charts in the House of Commons Library style and is based on </a:t>
            </a:r>
            <a:r>
              <a:rPr lang="en-GB" dirty="0">
                <a:latin typeface="National-LFSN Book" panose="020B0504030502020203" pitchFamily="34" charset="0"/>
                <a:hlinkClick r:id="rId5"/>
              </a:rPr>
              <a:t>ggplot2</a:t>
            </a:r>
            <a:r>
              <a:rPr lang="en-GB" dirty="0">
                <a:latin typeface="National-LFSN Book" panose="020B0504030502020203" pitchFamily="34" charset="0"/>
              </a:rPr>
              <a:t>.</a:t>
            </a:r>
            <a:endParaRPr dirty="0">
              <a:latin typeface="National-LFSN Book" panose="020B0504030502020203" pitchFamily="34" charset="0"/>
            </a:endParaRPr>
          </a:p>
        </p:txBody>
      </p:sp>
      <p:sp>
        <p:nvSpPr>
          <p:cNvPr id="325" name="Line"/>
          <p:cNvSpPr/>
          <p:nvPr/>
        </p:nvSpPr>
        <p:spPr>
          <a:xfrm>
            <a:off x="9435669" y="2046199"/>
            <a:ext cx="4062993" cy="1"/>
          </a:xfrm>
          <a:prstGeom prst="line">
            <a:avLst/>
          </a:prstGeom>
          <a:ln w="12700">
            <a:solidFill>
              <a:srgbClr val="E0E0E0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6" name="Manipulate Variables"/>
          <p:cNvSpPr txBox="1"/>
          <p:nvPr/>
        </p:nvSpPr>
        <p:spPr>
          <a:xfrm>
            <a:off x="9426688" y="1537907"/>
            <a:ext cx="201337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Theme colours</a:t>
            </a:r>
            <a:endParaRPr dirty="0"/>
          </a:p>
        </p:txBody>
      </p:sp>
      <p:sp>
        <p:nvSpPr>
          <p:cNvPr id="330" name="Line"/>
          <p:cNvSpPr/>
          <p:nvPr/>
        </p:nvSpPr>
        <p:spPr>
          <a:xfrm>
            <a:off x="323328" y="1534139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GB" sz="4400" dirty="0"/>
              <a:t>Data visualisation with </a:t>
            </a:r>
            <a:r>
              <a:rPr lang="en-GB" sz="4400" dirty="0" err="1"/>
              <a:t>clcharts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336" name="Use visualizations to explain concepts quickly and concisely."/>
          <p:cNvSpPr txBox="1"/>
          <p:nvPr/>
        </p:nvSpPr>
        <p:spPr>
          <a:xfrm>
            <a:off x="293993" y="3416012"/>
            <a:ext cx="2007151" cy="6214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To create a chart we use: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 err="1">
                <a:latin typeface="National-LFSN Semibd" panose="020B0704030502020203" pitchFamily="34" charset="0"/>
              </a:rPr>
              <a:t>ggplot</a:t>
            </a:r>
            <a:r>
              <a:rPr lang="en-GB" dirty="0">
                <a:latin typeface="National-LFSN Book" panose="020B0504030502020203" pitchFamily="34" charset="0"/>
              </a:rPr>
              <a:t> (</a:t>
            </a:r>
            <a:r>
              <a:rPr lang="en-GB" dirty="0">
                <a:latin typeface="National-LFSN Semibd" panose="020B0704030502020203" pitchFamily="34" charset="0"/>
              </a:rPr>
              <a:t>data </a:t>
            </a:r>
            <a:r>
              <a:rPr lang="en-GB" dirty="0">
                <a:latin typeface="National-LFSN Book" panose="020B0504030502020203" pitchFamily="34" charset="0"/>
              </a:rPr>
              <a:t>= </a:t>
            </a:r>
            <a:r>
              <a:rPr lang="en-GB" dirty="0">
                <a:latin typeface="National-LFSN Semibd" panose="020B0704030502020203" pitchFamily="34" charset="0"/>
              </a:rPr>
              <a:t>&lt;DATA&gt;</a:t>
            </a:r>
            <a:r>
              <a:rPr lang="en-GB" dirty="0">
                <a:latin typeface="National-LFSN Book" panose="020B0504030502020203" pitchFamily="34" charset="0"/>
              </a:rPr>
              <a:t>) +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Semibd" panose="020B0704030502020203" pitchFamily="34" charset="0"/>
              </a:rPr>
              <a:t>&lt;GEOM FUNCTION&gt;</a:t>
            </a:r>
            <a:r>
              <a:rPr lang="en-GB" dirty="0">
                <a:latin typeface="National-LFSN Book" panose="020B0504030502020203" pitchFamily="34" charset="0"/>
              </a:rPr>
              <a:t>(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Semibd" panose="020B0704030502020203" pitchFamily="34" charset="0"/>
              </a:rPr>
              <a:t>   mapping</a:t>
            </a:r>
            <a:r>
              <a:rPr lang="en-GB" dirty="0">
                <a:latin typeface="National-LFSN Book" panose="020B0504030502020203" pitchFamily="34" charset="0"/>
              </a:rPr>
              <a:t> = </a:t>
            </a:r>
            <a:r>
              <a:rPr lang="en-GB" dirty="0" err="1">
                <a:latin typeface="National-LFSN Book" panose="020B0504030502020203" pitchFamily="34" charset="0"/>
              </a:rPr>
              <a:t>aes</a:t>
            </a:r>
            <a:r>
              <a:rPr lang="en-GB" dirty="0">
                <a:latin typeface="National-LFSN Book" panose="020B0504030502020203" pitchFamily="34" charset="0"/>
              </a:rPr>
              <a:t>(&lt;</a:t>
            </a:r>
            <a:r>
              <a:rPr lang="en-GB" dirty="0">
                <a:latin typeface="National-LFSN Semibd" panose="020B0704030502020203" pitchFamily="34" charset="0"/>
              </a:rPr>
              <a:t>MAPPINGS</a:t>
            </a:r>
            <a:r>
              <a:rPr lang="en-GB" dirty="0">
                <a:latin typeface="National-LFSN Book" panose="020B0504030502020203" pitchFamily="34" charset="0"/>
              </a:rPr>
              <a:t>&gt;),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   stat = &lt;STAT&gt;,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   position = &lt;POSITION&gt;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) +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&lt;COORDINATE FUNCTION&gt; +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&lt;FACET FUNCTION&gt; + 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dirty="0">
                <a:latin typeface="National-LFSN Book" panose="020B0504030502020203" pitchFamily="34" charset="0"/>
              </a:rPr>
              <a:t>&lt;SCALE FUNCTION&gt; +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 err="1">
                <a:latin typeface="National-LFSN Semibd" panose="020B0704030502020203" pitchFamily="34" charset="0"/>
              </a:rPr>
              <a:t>theme_commonslib</a:t>
            </a:r>
            <a:r>
              <a:rPr lang="en-GB" b="0" dirty="0">
                <a:latin typeface="National-LFSN Semibd" panose="020B0704030502020203" pitchFamily="34" charset="0"/>
              </a:rPr>
              <a:t>() +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b="0" dirty="0">
              <a:latin typeface="National-LFSN Semibd" panose="020B07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labs(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  x = &lt;x label&gt;,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  y = &lt;y label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) +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b="0" dirty="0">
              <a:latin typeface="National-LFSN Semibd" panose="020B07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 err="1">
                <a:latin typeface="National-LFSN Semibd" panose="020B0704030502020203" pitchFamily="34" charset="0"/>
              </a:rPr>
              <a:t>add_commonslib_title</a:t>
            </a:r>
            <a:r>
              <a:rPr lang="en-GB" b="0" dirty="0">
                <a:latin typeface="National-LFSN Semibd" panose="020B0704030502020203" pitchFamily="34" charset="0"/>
              </a:rPr>
              <a:t>(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  title = &lt;title&gt;,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  subtitle = &lt;subtitle&gt;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r>
              <a:rPr lang="en-GB" b="0" dirty="0">
                <a:latin typeface="National-LFSN Semibd" panose="020B0704030502020203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b="0" dirty="0">
              <a:latin typeface="National-LFSN Semibd" panose="020B07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b="0" dirty="0">
              <a:latin typeface="National-LFSN Semibd" panose="020B07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b="0" dirty="0">
              <a:latin typeface="National-LFSN Semibd" panose="020B07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>
              <a:latin typeface="National-LFSN Book" panose="020B0504030502020203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lang="en-GB" dirty="0"/>
          </a:p>
          <a:p>
            <a:pPr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40" name="Line"/>
          <p:cNvSpPr/>
          <p:nvPr/>
        </p:nvSpPr>
        <p:spPr>
          <a:xfrm>
            <a:off x="4814439" y="1530350"/>
            <a:ext cx="7110861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58" name="Line"/>
          <p:cNvSpPr/>
          <p:nvPr/>
        </p:nvSpPr>
        <p:spPr>
          <a:xfrm>
            <a:off x="4814439" y="3892550"/>
            <a:ext cx="4309674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59" name="Line"/>
          <p:cNvSpPr/>
          <p:nvPr/>
        </p:nvSpPr>
        <p:spPr>
          <a:xfrm>
            <a:off x="9377743" y="3892778"/>
            <a:ext cx="4296975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rPr lang="en-GB" dirty="0" err="1"/>
              <a:t>commonslib_color</a:t>
            </a:r>
            <a:r>
              <a:rPr lang="en-GB" dirty="0"/>
              <a:t>(&lt;</a:t>
            </a:r>
            <a:r>
              <a:rPr lang="en-GB" dirty="0" err="1"/>
              <a:t>color_name</a:t>
            </a:r>
            <a:r>
              <a:rPr lang="en-GB" dirty="0"/>
              <a:t>&gt;)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61" name="To use a font awesome icon, copy and paste one from here fortawesome.github.io/Font-Awesome/cheatsheet/. Then set the text font to font awesome."/>
          <p:cNvSpPr txBox="1"/>
          <p:nvPr/>
        </p:nvSpPr>
        <p:spPr>
          <a:xfrm>
            <a:off x="4787900" y="5843136"/>
            <a:ext cx="4154098" cy="64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To use a </a:t>
            </a:r>
            <a:r>
              <a:rPr b="1"/>
              <a:t>font awesome</a:t>
            </a:r>
            <a:r>
              <a:t> icon, copy and paste one from here </a:t>
            </a:r>
            <a:r>
              <a:rPr u="sng">
                <a:hlinkClick r:id="rId6"/>
              </a:rPr>
              <a:t>fortawesome.github.io/Font-Awesome/cheatsheet/</a:t>
            </a:r>
            <a:r>
              <a:t>. Then set the text font to font awesome.</a:t>
            </a:r>
          </a:p>
        </p:txBody>
      </p:sp>
      <p:sp>
        <p:nvSpPr>
          <p:cNvPr id="362" name="Select multiple elements by holding down shift and then selecting each. Click on a selected element before letting go of shift to unselect it.…"/>
          <p:cNvSpPr txBox="1"/>
          <p:nvPr/>
        </p:nvSpPr>
        <p:spPr>
          <a:xfrm>
            <a:off x="4787900" y="9010624"/>
            <a:ext cx="415409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dirty="0"/>
          </a:p>
        </p:txBody>
      </p:sp>
      <p:sp>
        <p:nvSpPr>
          <p:cNvPr id="384" name="Layout Suggestions"/>
          <p:cNvSpPr txBox="1"/>
          <p:nvPr/>
        </p:nvSpPr>
        <p:spPr>
          <a:xfrm>
            <a:off x="4791188" y="1537907"/>
            <a:ext cx="1421864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 err="1"/>
              <a:t>Quickstart</a:t>
            </a:r>
            <a:endParaRPr dirty="0"/>
          </a:p>
        </p:txBody>
      </p:sp>
      <p:sp>
        <p:nvSpPr>
          <p:cNvPr id="385" name="Line"/>
          <p:cNvSpPr/>
          <p:nvPr/>
        </p:nvSpPr>
        <p:spPr>
          <a:xfrm>
            <a:off x="231073" y="8781291"/>
            <a:ext cx="4311195" cy="1"/>
          </a:xfrm>
          <a:prstGeom prst="line">
            <a:avLst/>
          </a:prstGeom>
          <a:ln w="12700">
            <a:solidFill>
              <a:srgbClr val="767C85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D9FA49-116B-1461-6B09-987D116EBFEF}"/>
              </a:ext>
            </a:extLst>
          </p:cNvPr>
          <p:cNvSpPr txBox="1"/>
          <p:nvPr/>
        </p:nvSpPr>
        <p:spPr>
          <a:xfrm>
            <a:off x="1897816" y="7345366"/>
            <a:ext cx="270640" cy="47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2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A2B992C3-5B05-D577-AA8B-30CF4F58FFD8}"/>
              </a:ext>
            </a:extLst>
          </p:cNvPr>
          <p:cNvSpPr/>
          <p:nvPr/>
        </p:nvSpPr>
        <p:spPr>
          <a:xfrm>
            <a:off x="2295711" y="3754795"/>
            <a:ext cx="140455" cy="569448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C2AB3151-C78B-1C2F-4D48-8ECCE8332738}"/>
              </a:ext>
            </a:extLst>
          </p:cNvPr>
          <p:cNvSpPr/>
          <p:nvPr/>
        </p:nvSpPr>
        <p:spPr>
          <a:xfrm>
            <a:off x="2235783" y="4478917"/>
            <a:ext cx="200383" cy="1636878"/>
          </a:xfrm>
          <a:prstGeom prst="rightBracket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7ABD2-B6DE-E226-BD54-C7C37B327CC0}"/>
              </a:ext>
            </a:extLst>
          </p:cNvPr>
          <p:cNvSpPr txBox="1"/>
          <p:nvPr/>
        </p:nvSpPr>
        <p:spPr>
          <a:xfrm rot="16200000">
            <a:off x="2066667" y="3740120"/>
            <a:ext cx="897305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Semibd" panose="020B0704030502020203" pitchFamily="34" charset="0"/>
                <a:sym typeface="Source Sans Pro"/>
              </a:rPr>
              <a:t>required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FA831F-C88A-E63A-5AF2-928696D9FE49}"/>
              </a:ext>
            </a:extLst>
          </p:cNvPr>
          <p:cNvSpPr txBox="1"/>
          <p:nvPr/>
        </p:nvSpPr>
        <p:spPr>
          <a:xfrm rot="16200000">
            <a:off x="1633179" y="4464096"/>
            <a:ext cx="1790700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Semibd" panose="020B0704030502020203" pitchFamily="34" charset="0"/>
                <a:sym typeface="Source Sans Pro"/>
              </a:rPr>
              <a:t>Not required</a:t>
            </a:r>
          </a:p>
        </p:txBody>
      </p:sp>
      <p:grpSp>
        <p:nvGrpSpPr>
          <p:cNvPr id="28" name="Group 12">
            <a:extLst>
              <a:ext uri="{FF2B5EF4-FFF2-40B4-BE49-F238E27FC236}">
                <a16:creationId xmlns:a16="http://schemas.microsoft.com/office/drawing/2014/main" id="{954AD853-ABED-08C6-7CB8-4793D139FA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5545" y="3546074"/>
            <a:ext cx="3145087" cy="1121824"/>
            <a:chOff x="3294" y="3029"/>
            <a:chExt cx="2212" cy="789"/>
          </a:xfrm>
        </p:grpSpPr>
        <p:sp>
          <p:nvSpPr>
            <p:cNvPr id="29" name="AutoShape 11">
              <a:extLst>
                <a:ext uri="{FF2B5EF4-FFF2-40B4-BE49-F238E27FC236}">
                  <a16:creationId xmlns:a16="http://schemas.microsoft.com/office/drawing/2014/main" id="{6C68CEA3-06B3-6036-2608-8728D65094C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94" y="3029"/>
              <a:ext cx="2212" cy="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037" name="Picture 13">
              <a:extLst>
                <a:ext uri="{FF2B5EF4-FFF2-40B4-BE49-F238E27FC236}">
                  <a16:creationId xmlns:a16="http://schemas.microsoft.com/office/drawing/2014/main" id="{F2167417-1789-8DB4-FB14-9041F13FAB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73" r="56302"/>
            <a:stretch>
              <a:fillRect/>
            </a:stretch>
          </p:blipFill>
          <p:spPr bwMode="auto">
            <a:xfrm>
              <a:off x="3373" y="3070"/>
              <a:ext cx="814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Group 12">
            <a:extLst>
              <a:ext uri="{FF2B5EF4-FFF2-40B4-BE49-F238E27FC236}">
                <a16:creationId xmlns:a16="http://schemas.microsoft.com/office/drawing/2014/main" id="{ADE4551D-9EFB-BBE2-07A3-CC57AA9340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07944" y="5020815"/>
            <a:ext cx="3511550" cy="1177925"/>
            <a:chOff x="3294" y="3029"/>
            <a:chExt cx="2212" cy="742"/>
          </a:xfrm>
        </p:grpSpPr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707F9E14-19C3-F8EC-DA82-25E596A3579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94" y="3029"/>
              <a:ext cx="2212" cy="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32" name="Picture 13">
              <a:extLst>
                <a:ext uri="{FF2B5EF4-FFF2-40B4-BE49-F238E27FC236}">
                  <a16:creationId xmlns:a16="http://schemas.microsoft.com/office/drawing/2014/main" id="{7DED182F-6F18-ADC9-7090-2384F3875A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085" r="32063"/>
            <a:stretch>
              <a:fillRect/>
            </a:stretch>
          </p:blipFill>
          <p:spPr bwMode="auto">
            <a:xfrm>
              <a:off x="3337" y="3083"/>
              <a:ext cx="427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39" name="Picture 15">
            <a:extLst>
              <a:ext uri="{FF2B5EF4-FFF2-40B4-BE49-F238E27FC236}">
                <a16:creationId xmlns:a16="http://schemas.microsoft.com/office/drawing/2014/main" id="{61945945-98E6-8325-E01D-077EF02435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43" b="8774"/>
          <a:stretch>
            <a:fillRect/>
          </a:stretch>
        </p:blipFill>
        <p:spPr bwMode="auto">
          <a:xfrm>
            <a:off x="2757404" y="6166960"/>
            <a:ext cx="678965" cy="64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969FED2-5F88-4268-4883-D4110780D0A8}"/>
              </a:ext>
            </a:extLst>
          </p:cNvPr>
          <p:cNvSpPr txBox="1"/>
          <p:nvPr/>
        </p:nvSpPr>
        <p:spPr>
          <a:xfrm>
            <a:off x="3737530" y="3632173"/>
            <a:ext cx="841997" cy="15208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Data variables are mapped to visual properties of the </a:t>
            </a:r>
            <a:r>
              <a:rPr lang="en-GB" sz="1000" b="0" dirty="0" err="1">
                <a:solidFill>
                  <a:schemeClr val="tx2"/>
                </a:solidFill>
                <a:latin typeface="National-LFSN Book" panose="020B0504030502020203" pitchFamily="34" charset="0"/>
              </a:rPr>
              <a:t>geom</a:t>
            </a: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 like size, colour and x and y locations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5A7E32-9064-534F-8789-C7EBC6856FF1}"/>
              </a:ext>
            </a:extLst>
          </p:cNvPr>
          <p:cNvSpPr txBox="1"/>
          <p:nvPr/>
        </p:nvSpPr>
        <p:spPr>
          <a:xfrm>
            <a:off x="3472663" y="6030430"/>
            <a:ext cx="1051451" cy="921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Faceting generates small multiples showing different subsets of the data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FF379B-F4EB-A40E-F920-F3639981FDF5}"/>
              </a:ext>
            </a:extLst>
          </p:cNvPr>
          <p:cNvSpPr txBox="1"/>
          <p:nvPr/>
        </p:nvSpPr>
        <p:spPr>
          <a:xfrm>
            <a:off x="2532053" y="7103450"/>
            <a:ext cx="2105200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House of Commons library theme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6C7DAC-7F43-88BF-13C2-E490481FD810}"/>
              </a:ext>
            </a:extLst>
          </p:cNvPr>
          <p:cNvSpPr txBox="1"/>
          <p:nvPr/>
        </p:nvSpPr>
        <p:spPr>
          <a:xfrm>
            <a:off x="2523178" y="7429358"/>
            <a:ext cx="2105200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Set labels e.g. for x and y axes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5CF3F9-A6D4-67B9-476B-B8DE21F880BA}"/>
              </a:ext>
            </a:extLst>
          </p:cNvPr>
          <p:cNvSpPr txBox="1"/>
          <p:nvPr/>
        </p:nvSpPr>
        <p:spPr>
          <a:xfrm>
            <a:off x="2532053" y="8108775"/>
            <a:ext cx="2105200" cy="597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This aligns the title and subtitle to the left hand edge of the y axis which is consistent with the Library style.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FC44E4-D966-1A8E-E919-E43447F014B5}"/>
              </a:ext>
            </a:extLst>
          </p:cNvPr>
          <p:cNvSpPr txBox="1"/>
          <p:nvPr/>
        </p:nvSpPr>
        <p:spPr>
          <a:xfrm>
            <a:off x="2675578" y="7581758"/>
            <a:ext cx="2105200" cy="2897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000" b="0" dirty="0">
                <a:solidFill>
                  <a:schemeClr val="tx2"/>
                </a:solidFill>
                <a:latin typeface="National-LFSN Book" panose="020B0504030502020203" pitchFamily="34" charset="0"/>
              </a:rPr>
              <a:t>Set labels e.g. for x and y axes</a:t>
            </a:r>
            <a:endParaRPr kumimoji="0" lang="en-GB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National-LFSN Book" panose="020B0504030502020203" pitchFamily="34" charset="0"/>
              <a:sym typeface="Source Sans Pro"/>
            </a:endParaRPr>
          </a:p>
        </p:txBody>
      </p:sp>
      <p:sp>
        <p:nvSpPr>
          <p:cNvPr id="40" name="CODE">
            <a:extLst>
              <a:ext uri="{FF2B5EF4-FFF2-40B4-BE49-F238E27FC236}">
                <a16:creationId xmlns:a16="http://schemas.microsoft.com/office/drawing/2014/main" id="{3872ADE0-6978-A207-7D39-DF4528C2D349}"/>
              </a:ext>
            </a:extLst>
          </p:cNvPr>
          <p:cNvSpPr txBox="1"/>
          <p:nvPr/>
        </p:nvSpPr>
        <p:spPr>
          <a:xfrm>
            <a:off x="4787900" y="1895093"/>
            <a:ext cx="831959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rPr lang="en-GB" dirty="0"/>
              <a:t>LINE CHART</a:t>
            </a:r>
            <a:endParaRPr dirty="0"/>
          </a:p>
        </p:txBody>
      </p:sp>
      <p:sp>
        <p:nvSpPr>
          <p:cNvPr id="41" name="ggplot(mpg, aes(hwy, cty)) +…">
            <a:extLst>
              <a:ext uri="{FF2B5EF4-FFF2-40B4-BE49-F238E27FC236}">
                <a16:creationId xmlns:a16="http://schemas.microsoft.com/office/drawing/2014/main" id="{E50B1236-153C-3B73-CD90-A26898249BB0}"/>
              </a:ext>
            </a:extLst>
          </p:cNvPr>
          <p:cNvSpPr txBox="1"/>
          <p:nvPr/>
        </p:nvSpPr>
        <p:spPr>
          <a:xfrm>
            <a:off x="4790652" y="2208553"/>
            <a:ext cx="4296974" cy="547577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r>
              <a:rPr lang="en-GB" b="0" dirty="0"/>
              <a:t>plot &lt;- </a:t>
            </a:r>
            <a:r>
              <a:rPr lang="en-GB" b="0" dirty="0" err="1"/>
              <a:t>ggplot</a:t>
            </a:r>
            <a:r>
              <a:rPr lang="en-GB" b="0" dirty="0"/>
              <a:t>(</a:t>
            </a:r>
          </a:p>
          <a:p>
            <a:r>
              <a:rPr lang="en-GB" b="0" dirty="0"/>
              <a:t>       data = &lt;data&gt;,</a:t>
            </a:r>
          </a:p>
          <a:p>
            <a:r>
              <a:rPr lang="en-GB" b="0" dirty="0"/>
              <a:t>       mapping = </a:t>
            </a:r>
            <a:r>
              <a:rPr lang="en-GB" b="0" dirty="0" err="1"/>
              <a:t>aes</a:t>
            </a:r>
            <a:r>
              <a:rPr lang="en-GB" b="0" dirty="0"/>
              <a:t>(x = &lt;x&gt;, y = &lt;y&gt;)</a:t>
            </a:r>
          </a:p>
          <a:p>
            <a:r>
              <a:rPr lang="en-GB" b="0" dirty="0"/>
              <a:t>) +</a:t>
            </a:r>
          </a:p>
          <a:p>
            <a:r>
              <a:rPr lang="en-GB" b="0" dirty="0"/>
              <a:t>    </a:t>
            </a:r>
          </a:p>
          <a:p>
            <a:r>
              <a:rPr lang="en-GB" b="0" dirty="0" err="1"/>
              <a:t>geom_line</a:t>
            </a:r>
            <a:r>
              <a:rPr lang="en-GB" b="0" dirty="0"/>
              <a:t>(</a:t>
            </a:r>
            <a:r>
              <a:rPr lang="en-GB" b="0" dirty="0" err="1"/>
              <a:t>color</a:t>
            </a:r>
            <a:r>
              <a:rPr lang="en-GB" b="0" dirty="0"/>
              <a:t> = </a:t>
            </a:r>
            <a:r>
              <a:rPr lang="en-GB" b="0" dirty="0" err="1"/>
              <a:t>commonslib_color</a:t>
            </a:r>
            <a:r>
              <a:rPr lang="en-GB" b="0" dirty="0"/>
              <a:t>(“</a:t>
            </a:r>
            <a:r>
              <a:rPr lang="en-GB" b="0" dirty="0" err="1"/>
              <a:t>commons_green</a:t>
            </a:r>
            <a:r>
              <a:rPr lang="en-GB" b="0" dirty="0"/>
              <a:t>”), size = 1.1) +</a:t>
            </a:r>
          </a:p>
          <a:p>
            <a:endParaRPr lang="en-GB" b="0" dirty="0"/>
          </a:p>
          <a:p>
            <a:r>
              <a:rPr lang="en-GB" b="0" dirty="0"/>
              <a:t>labs(</a:t>
            </a:r>
          </a:p>
          <a:p>
            <a:r>
              <a:rPr lang="en-GB" b="0" dirty="0"/>
              <a:t>        x = &lt;x&gt;,</a:t>
            </a:r>
          </a:p>
          <a:p>
            <a:r>
              <a:rPr lang="en-GB" b="0" dirty="0"/>
              <a:t>        y = &lt;y&gt;) +</a:t>
            </a:r>
          </a:p>
          <a:p>
            <a:endParaRPr lang="en-GB" b="0" dirty="0"/>
          </a:p>
          <a:p>
            <a:r>
              <a:rPr lang="en-GB" b="0" dirty="0"/>
              <a:t> </a:t>
            </a:r>
            <a:r>
              <a:rPr lang="en-GB" b="0" dirty="0" err="1"/>
              <a:t>scale_x_continuous</a:t>
            </a:r>
            <a:r>
              <a:rPr lang="en-GB" b="0" dirty="0"/>
              <a:t>(breaks = </a:t>
            </a:r>
            <a:r>
              <a:rPr lang="en-GB" b="0" dirty="0" err="1"/>
              <a:t>seq</a:t>
            </a:r>
            <a:r>
              <a:rPr lang="en-GB" b="0" dirty="0"/>
              <a:t>(0, 10, 2)) +</a:t>
            </a:r>
          </a:p>
          <a:p>
            <a:r>
              <a:rPr lang="en-GB" b="0" dirty="0"/>
              <a:t> </a:t>
            </a:r>
            <a:r>
              <a:rPr lang="en-GB" b="0" dirty="0" err="1"/>
              <a:t>scale_y_continuous</a:t>
            </a:r>
            <a:r>
              <a:rPr lang="en-GB" b="0" dirty="0"/>
              <a:t>(limits = c(0, 20)) +</a:t>
            </a:r>
          </a:p>
          <a:p>
            <a:endParaRPr lang="en-GB" b="0" dirty="0"/>
          </a:p>
          <a:p>
            <a:r>
              <a:rPr lang="en-GB" b="0" dirty="0"/>
              <a:t> </a:t>
            </a:r>
            <a:r>
              <a:rPr lang="en-GB" b="0" dirty="0" err="1"/>
              <a:t>theme_commonslib</a:t>
            </a:r>
            <a:r>
              <a:rPr lang="en-GB" b="0" dirty="0"/>
              <a:t>() </a:t>
            </a:r>
          </a:p>
          <a:p>
            <a:endParaRPr lang="en-GB" b="0" dirty="0"/>
          </a:p>
          <a:p>
            <a:r>
              <a:rPr lang="en-GB" b="0" dirty="0"/>
              <a:t>plot &lt;- plot + </a:t>
            </a:r>
            <a:r>
              <a:rPr lang="en-GB" b="0" dirty="0" err="1"/>
              <a:t>add_commonslib_titles</a:t>
            </a:r>
            <a:r>
              <a:rPr lang="en-GB" b="0" dirty="0"/>
              <a:t>(</a:t>
            </a:r>
          </a:p>
          <a:p>
            <a:r>
              <a:rPr lang="en-GB" b="0" dirty="0"/>
              <a:t>   plot,</a:t>
            </a:r>
          </a:p>
          <a:p>
            <a:r>
              <a:rPr lang="en-GB" b="0" dirty="0"/>
              <a:t>   title = &lt;title&gt;,</a:t>
            </a:r>
          </a:p>
          <a:p>
            <a:r>
              <a:rPr lang="en-GB" b="0" dirty="0"/>
              <a:t>    subtitle = &lt;title&gt;</a:t>
            </a:r>
          </a:p>
          <a:p>
            <a:r>
              <a:rPr lang="en-GB" b="0" dirty="0"/>
              <a:t>)</a:t>
            </a:r>
          </a:p>
          <a:p>
            <a:r>
              <a:rPr lang="en-GB" b="0" dirty="0"/>
              <a:t># Save the plot</a:t>
            </a:r>
          </a:p>
          <a:p>
            <a:r>
              <a:rPr lang="en-GB" b="0" dirty="0" err="1"/>
              <a:t>save_png</a:t>
            </a:r>
            <a:r>
              <a:rPr lang="en-GB" b="0" dirty="0"/>
              <a:t>(plot, “&lt;</a:t>
            </a:r>
            <a:r>
              <a:rPr lang="en-GB" b="0" dirty="0" err="1"/>
              <a:t>plotname</a:t>
            </a:r>
            <a:r>
              <a:rPr lang="en-GB" b="0" dirty="0"/>
              <a:t>&gt;.png", width = 8, height = 5)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GB" dirty="0"/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dirty="0"/>
          </a:p>
        </p:txBody>
      </p:sp>
      <p:sp>
        <p:nvSpPr>
          <p:cNvPr id="388" name="Word balloons"/>
          <p:cNvSpPr/>
          <p:nvPr/>
        </p:nvSpPr>
        <p:spPr>
          <a:xfrm>
            <a:off x="6761654" y="1908366"/>
            <a:ext cx="2258965" cy="739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6" y="0"/>
                </a:moveTo>
                <a:cubicBezTo>
                  <a:pt x="4296" y="0"/>
                  <a:pt x="3611" y="1497"/>
                  <a:pt x="3611" y="3334"/>
                </a:cubicBezTo>
                <a:lnTo>
                  <a:pt x="3611" y="15677"/>
                </a:lnTo>
                <a:lnTo>
                  <a:pt x="0" y="21600"/>
                </a:lnTo>
                <a:lnTo>
                  <a:pt x="4909" y="19951"/>
                </a:lnTo>
                <a:cubicBezTo>
                  <a:pt x="4986" y="19977"/>
                  <a:pt x="5056" y="20057"/>
                  <a:pt x="5136" y="20057"/>
                </a:cubicBezTo>
                <a:lnTo>
                  <a:pt x="20083" y="20057"/>
                </a:lnTo>
                <a:cubicBezTo>
                  <a:pt x="20923" y="20057"/>
                  <a:pt x="21600" y="18560"/>
                  <a:pt x="21600" y="16723"/>
                </a:cubicBezTo>
                <a:lnTo>
                  <a:pt x="21600" y="3334"/>
                </a:lnTo>
                <a:cubicBezTo>
                  <a:pt x="21600" y="1497"/>
                  <a:pt x="20923" y="0"/>
                  <a:pt x="20083" y="0"/>
                </a:cubicBezTo>
                <a:lnTo>
                  <a:pt x="513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32000" tIns="72000" rIns="0" bIns="72000" anchor="ctr">
            <a:spAutoFit/>
          </a:bodyPr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rPr lang="en-GB" dirty="0" err="1"/>
              <a:t>aes</a:t>
            </a:r>
            <a:r>
              <a:rPr lang="en-GB" dirty="0"/>
              <a:t> maps &lt;x&gt; to x and &lt;y&gt; to y. This can be set here to apply to all </a:t>
            </a:r>
            <a:r>
              <a:rPr lang="en-GB" dirty="0" err="1"/>
              <a:t>geoms</a:t>
            </a:r>
            <a:r>
              <a:rPr lang="en-GB" dirty="0"/>
              <a:t>, or set in each geom.</a:t>
            </a:r>
            <a:endParaRPr dirty="0"/>
          </a:p>
        </p:txBody>
      </p:sp>
      <p:sp>
        <p:nvSpPr>
          <p:cNvPr id="42" name="Word balloons">
            <a:extLst>
              <a:ext uri="{FF2B5EF4-FFF2-40B4-BE49-F238E27FC236}">
                <a16:creationId xmlns:a16="http://schemas.microsoft.com/office/drawing/2014/main" id="{88349141-AF81-8F5E-49B5-0901D098327C}"/>
              </a:ext>
            </a:extLst>
          </p:cNvPr>
          <p:cNvSpPr/>
          <p:nvPr/>
        </p:nvSpPr>
        <p:spPr>
          <a:xfrm>
            <a:off x="5484055" y="3653591"/>
            <a:ext cx="2258965" cy="444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6" y="0"/>
                </a:moveTo>
                <a:cubicBezTo>
                  <a:pt x="4296" y="0"/>
                  <a:pt x="3611" y="1497"/>
                  <a:pt x="3611" y="3334"/>
                </a:cubicBezTo>
                <a:lnTo>
                  <a:pt x="3611" y="15677"/>
                </a:lnTo>
                <a:lnTo>
                  <a:pt x="0" y="21600"/>
                </a:lnTo>
                <a:lnTo>
                  <a:pt x="4909" y="19951"/>
                </a:lnTo>
                <a:cubicBezTo>
                  <a:pt x="4986" y="19977"/>
                  <a:pt x="5056" y="20057"/>
                  <a:pt x="5136" y="20057"/>
                </a:cubicBezTo>
                <a:lnTo>
                  <a:pt x="20083" y="20057"/>
                </a:lnTo>
                <a:cubicBezTo>
                  <a:pt x="20923" y="20057"/>
                  <a:pt x="21600" y="18560"/>
                  <a:pt x="21600" y="16723"/>
                </a:cubicBezTo>
                <a:lnTo>
                  <a:pt x="21600" y="3334"/>
                </a:lnTo>
                <a:cubicBezTo>
                  <a:pt x="21600" y="1497"/>
                  <a:pt x="20923" y="0"/>
                  <a:pt x="20083" y="0"/>
                </a:cubicBezTo>
                <a:lnTo>
                  <a:pt x="513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32000" tIns="72000" rIns="0" bIns="72000" anchor="ctr">
            <a:spAutoFit/>
          </a:bodyPr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Set x and y axes labels here</a:t>
            </a:r>
            <a:endParaRPr dirty="0"/>
          </a:p>
        </p:txBody>
      </p:sp>
      <p:sp>
        <p:nvSpPr>
          <p:cNvPr id="43" name="Word balloons">
            <a:extLst>
              <a:ext uri="{FF2B5EF4-FFF2-40B4-BE49-F238E27FC236}">
                <a16:creationId xmlns:a16="http://schemas.microsoft.com/office/drawing/2014/main" id="{0BEE3BE4-659E-A5E5-2DE4-6B4B28562983}"/>
              </a:ext>
            </a:extLst>
          </p:cNvPr>
          <p:cNvSpPr/>
          <p:nvPr/>
        </p:nvSpPr>
        <p:spPr>
          <a:xfrm>
            <a:off x="7539125" y="4022857"/>
            <a:ext cx="1544694" cy="7394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6" y="0"/>
                </a:moveTo>
                <a:cubicBezTo>
                  <a:pt x="4296" y="0"/>
                  <a:pt x="3611" y="1497"/>
                  <a:pt x="3611" y="3334"/>
                </a:cubicBezTo>
                <a:lnTo>
                  <a:pt x="3611" y="15677"/>
                </a:lnTo>
                <a:lnTo>
                  <a:pt x="0" y="21600"/>
                </a:lnTo>
                <a:lnTo>
                  <a:pt x="4909" y="19951"/>
                </a:lnTo>
                <a:cubicBezTo>
                  <a:pt x="4986" y="19977"/>
                  <a:pt x="5056" y="20057"/>
                  <a:pt x="5136" y="20057"/>
                </a:cubicBezTo>
                <a:lnTo>
                  <a:pt x="20083" y="20057"/>
                </a:lnTo>
                <a:cubicBezTo>
                  <a:pt x="20923" y="20057"/>
                  <a:pt x="21600" y="18560"/>
                  <a:pt x="21600" y="16723"/>
                </a:cubicBezTo>
                <a:lnTo>
                  <a:pt x="21600" y="3334"/>
                </a:lnTo>
                <a:cubicBezTo>
                  <a:pt x="21600" y="1497"/>
                  <a:pt x="20923" y="0"/>
                  <a:pt x="20083" y="0"/>
                </a:cubicBezTo>
                <a:lnTo>
                  <a:pt x="513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2000" tIns="72000" rIns="0" bIns="72000" anchor="ctr">
            <a:spAutoFit/>
          </a:bodyPr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Control axes: x is from 0 to 10 in steps of  2, y is between 0 and 20</a:t>
            </a:r>
            <a:endParaRPr dirty="0"/>
          </a:p>
        </p:txBody>
      </p: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267C1B30-AA97-A18E-49D4-8AF626FEC739}"/>
              </a:ext>
            </a:extLst>
          </p:cNvPr>
          <p:cNvGrpSpPr/>
          <p:nvPr/>
        </p:nvGrpSpPr>
        <p:grpSpPr>
          <a:xfrm>
            <a:off x="9435669" y="2105407"/>
            <a:ext cx="2406590" cy="1413713"/>
            <a:chOff x="9536868" y="2236471"/>
            <a:chExt cx="2406590" cy="141371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95EB230-EFFF-1249-8CF4-A99A1C4FA9FC}"/>
                </a:ext>
              </a:extLst>
            </p:cNvPr>
            <p:cNvSpPr/>
            <p:nvPr/>
          </p:nvSpPr>
          <p:spPr>
            <a:xfrm>
              <a:off x="9536868" y="2319402"/>
              <a:ext cx="180000" cy="180000"/>
            </a:xfrm>
            <a:prstGeom prst="rect">
              <a:avLst/>
            </a:prstGeom>
            <a:solidFill>
              <a:srgbClr val="006548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928564F-7DB3-4EA7-DDB1-4DFAC6284410}"/>
                </a:ext>
              </a:extLst>
            </p:cNvPr>
            <p:cNvSpPr txBox="1"/>
            <p:nvPr/>
          </p:nvSpPr>
          <p:spPr>
            <a:xfrm>
              <a:off x="9716868" y="2236471"/>
              <a:ext cx="1011093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 err="1">
                  <a:latin typeface="National-LFSN Book" panose="020B0504030502020203" pitchFamily="34" charset="0"/>
                </a:rPr>
                <a:t>c</a:t>
              </a: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ommons_green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6B4B732-38C9-E589-0DAF-58F9CB569376}"/>
                </a:ext>
              </a:extLst>
            </p:cNvPr>
            <p:cNvSpPr/>
            <p:nvPr/>
          </p:nvSpPr>
          <p:spPr>
            <a:xfrm>
              <a:off x="9539094" y="2595911"/>
              <a:ext cx="180000" cy="180000"/>
            </a:xfrm>
            <a:prstGeom prst="rect">
              <a:avLst/>
            </a:prstGeom>
            <a:solidFill>
              <a:srgbClr val="3F9D8A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311D3B2-D339-2C99-1059-AE1E073ECFBD}"/>
                </a:ext>
              </a:extLst>
            </p:cNvPr>
            <p:cNvSpPr txBox="1"/>
            <p:nvPr/>
          </p:nvSpPr>
          <p:spPr>
            <a:xfrm>
              <a:off x="9719094" y="2512980"/>
              <a:ext cx="820337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ocean_green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6C871C0-B72E-56B1-0F7C-D32022973D58}"/>
                </a:ext>
              </a:extLst>
            </p:cNvPr>
            <p:cNvSpPr/>
            <p:nvPr/>
          </p:nvSpPr>
          <p:spPr>
            <a:xfrm>
              <a:off x="9539094" y="2861960"/>
              <a:ext cx="180000" cy="180000"/>
            </a:xfrm>
            <a:prstGeom prst="rect">
              <a:avLst/>
            </a:prstGeom>
            <a:solidFill>
              <a:srgbClr val="003F2B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5608956-0B37-9D43-C5CF-1D7D71615EBE}"/>
                </a:ext>
              </a:extLst>
            </p:cNvPr>
            <p:cNvSpPr txBox="1"/>
            <p:nvPr/>
          </p:nvSpPr>
          <p:spPr>
            <a:xfrm>
              <a:off x="9719094" y="2779029"/>
              <a:ext cx="724156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pine_green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F7F888-15BE-F0C9-5E95-9E8BAB800155}"/>
                </a:ext>
              </a:extLst>
            </p:cNvPr>
            <p:cNvSpPr/>
            <p:nvPr/>
          </p:nvSpPr>
          <p:spPr>
            <a:xfrm>
              <a:off x="9536868" y="3159231"/>
              <a:ext cx="180000" cy="180000"/>
            </a:xfrm>
            <a:prstGeom prst="rect">
              <a:avLst/>
            </a:prstGeom>
            <a:solidFill>
              <a:srgbClr val="682F7F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80C9918-2461-7003-907C-6C1A8E7CB486}"/>
                </a:ext>
              </a:extLst>
            </p:cNvPr>
            <p:cNvSpPr txBox="1"/>
            <p:nvPr/>
          </p:nvSpPr>
          <p:spPr>
            <a:xfrm>
              <a:off x="9716868" y="3076300"/>
              <a:ext cx="434012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grape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83BFA74-3E76-D396-FC47-8554482BB08D}"/>
                </a:ext>
              </a:extLst>
            </p:cNvPr>
            <p:cNvSpPr/>
            <p:nvPr/>
          </p:nvSpPr>
          <p:spPr>
            <a:xfrm>
              <a:off x="9539621" y="3443373"/>
              <a:ext cx="180000" cy="180000"/>
            </a:xfrm>
            <a:prstGeom prst="rect">
              <a:avLst/>
            </a:prstGeom>
            <a:solidFill>
              <a:srgbClr val="A37EC8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4BF04EC-ACA2-0E5E-E7E5-120ACEC71E0E}"/>
                </a:ext>
              </a:extLst>
            </p:cNvPr>
            <p:cNvSpPr txBox="1"/>
            <p:nvPr/>
          </p:nvSpPr>
          <p:spPr>
            <a:xfrm>
              <a:off x="9725971" y="3360442"/>
              <a:ext cx="344244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GB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lilac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347254A-4120-6860-AF59-2704540B7CDA}"/>
                </a:ext>
              </a:extLst>
            </p:cNvPr>
            <p:cNvSpPr/>
            <p:nvPr/>
          </p:nvSpPr>
          <p:spPr>
            <a:xfrm>
              <a:off x="10870363" y="2319402"/>
              <a:ext cx="180000" cy="180000"/>
            </a:xfrm>
            <a:prstGeom prst="rect">
              <a:avLst/>
            </a:prstGeom>
            <a:solidFill>
              <a:srgbClr val="E09F0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55C7BA-69B8-4355-A5FC-FFE437471EED}"/>
                </a:ext>
              </a:extLst>
            </p:cNvPr>
            <p:cNvSpPr txBox="1"/>
            <p:nvPr/>
          </p:nvSpPr>
          <p:spPr>
            <a:xfrm>
              <a:off x="11050363" y="2236471"/>
              <a:ext cx="639197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>
                  <a:latin typeface="National-LFSN Book" panose="020B0504030502020203" pitchFamily="34" charset="0"/>
                </a:rPr>
                <a:t>tangerine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ED1013B-214C-9604-C5B2-D26ABBDC7EA6}"/>
                </a:ext>
              </a:extLst>
            </p:cNvPr>
            <p:cNvSpPr/>
            <p:nvPr/>
          </p:nvSpPr>
          <p:spPr>
            <a:xfrm>
              <a:off x="10872589" y="2595911"/>
              <a:ext cx="180000" cy="180000"/>
            </a:xfrm>
            <a:prstGeom prst="rect">
              <a:avLst/>
            </a:prstGeom>
            <a:solidFill>
              <a:srgbClr val="306298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9C05D7-B274-675E-0FE2-49768A6DFB02}"/>
                </a:ext>
              </a:extLst>
            </p:cNvPr>
            <p:cNvSpPr txBox="1"/>
            <p:nvPr/>
          </p:nvSpPr>
          <p:spPr>
            <a:xfrm>
              <a:off x="11052589" y="2512980"/>
              <a:ext cx="89086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 err="1">
                  <a:latin typeface="National-LFSN Book" panose="020B0504030502020203" pitchFamily="34" charset="0"/>
                </a:rPr>
                <a:t>c</a:t>
              </a: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erulean_blue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237871C-43B7-637B-2215-66E056058FBF}"/>
                </a:ext>
              </a:extLst>
            </p:cNvPr>
            <p:cNvSpPr/>
            <p:nvPr/>
          </p:nvSpPr>
          <p:spPr>
            <a:xfrm>
              <a:off x="10872589" y="2861960"/>
              <a:ext cx="180000" cy="180000"/>
            </a:xfrm>
            <a:prstGeom prst="rect">
              <a:avLst/>
            </a:prstGeom>
            <a:solidFill>
              <a:srgbClr val="00A1CC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992128E-DF0F-E62F-BC35-6ADFB260A2E9}"/>
                </a:ext>
              </a:extLst>
            </p:cNvPr>
            <p:cNvSpPr txBox="1"/>
            <p:nvPr/>
          </p:nvSpPr>
          <p:spPr>
            <a:xfrm>
              <a:off x="11052589" y="2779029"/>
              <a:ext cx="778659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 err="1">
                  <a:latin typeface="National-LFSN Book" panose="020B0504030502020203" pitchFamily="34" charset="0"/>
                </a:rPr>
                <a:t>p</a:t>
              </a: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acific_blue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FF434E6B-745D-06A5-21A8-ECDCE4471774}"/>
                </a:ext>
              </a:extLst>
            </p:cNvPr>
            <p:cNvSpPr/>
            <p:nvPr/>
          </p:nvSpPr>
          <p:spPr>
            <a:xfrm>
              <a:off x="10870363" y="3159231"/>
              <a:ext cx="180000" cy="180000"/>
            </a:xfrm>
            <a:prstGeom prst="rect">
              <a:avLst/>
            </a:prstGeom>
            <a:solidFill>
              <a:srgbClr val="C23F18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CCF87B31-DDC9-D878-4C4D-E97DB42A17A5}"/>
                </a:ext>
              </a:extLst>
            </p:cNvPr>
            <p:cNvSpPr txBox="1"/>
            <p:nvPr/>
          </p:nvSpPr>
          <p:spPr>
            <a:xfrm>
              <a:off x="11050363" y="3076300"/>
              <a:ext cx="862015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 err="1">
                  <a:latin typeface="National-LFSN Book" panose="020B0504030502020203" pitchFamily="34" charset="0"/>
                </a:rPr>
                <a:t>b</a:t>
              </a:r>
              <a:r>
                <a:rPr kumimoji="0" lang="en-GB" sz="1000" b="1" i="0" u="none" strike="noStrike" cap="none" spc="0" normalizeH="0" baseline="0" dirty="0" err="1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rPr>
                <a:t>urnt_orange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2DA67C00-B322-C36F-3F0D-E5D8CFC774CF}"/>
                </a:ext>
              </a:extLst>
            </p:cNvPr>
            <p:cNvSpPr/>
            <p:nvPr/>
          </p:nvSpPr>
          <p:spPr>
            <a:xfrm>
              <a:off x="10873116" y="3443373"/>
              <a:ext cx="180000" cy="180000"/>
            </a:xfrm>
            <a:prstGeom prst="rect">
              <a:avLst/>
            </a:prstGeom>
            <a:solidFill>
              <a:srgbClr val="800F1B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1D016A55-929C-9892-A626-BAA1E7B311EE}"/>
                </a:ext>
              </a:extLst>
            </p:cNvPr>
            <p:cNvSpPr txBox="1"/>
            <p:nvPr/>
          </p:nvSpPr>
          <p:spPr>
            <a:xfrm>
              <a:off x="11059466" y="3360442"/>
              <a:ext cx="456454" cy="2897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GB" sz="1000" dirty="0">
                  <a:latin typeface="National-LFSN Book" panose="020B0504030502020203" pitchFamily="34" charset="0"/>
                </a:rPr>
                <a:t>cherry</a:t>
              </a:r>
              <a:endParaRPr kumimoji="0" lang="en-GB" sz="10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National-LFSN Book" panose="020B0504030502020203" pitchFamily="34" charset="0"/>
                <a:sym typeface="Source Sans Pro"/>
              </a:endParaRPr>
            </a:p>
          </p:txBody>
        </p:sp>
      </p:grpSp>
      <p:sp>
        <p:nvSpPr>
          <p:cNvPr id="455" name="Useful Elements">
            <a:extLst>
              <a:ext uri="{FF2B5EF4-FFF2-40B4-BE49-F238E27FC236}">
                <a16:creationId xmlns:a16="http://schemas.microsoft.com/office/drawing/2014/main" id="{6C58C636-CC72-AF1D-5414-663F533128F1}"/>
              </a:ext>
            </a:extLst>
          </p:cNvPr>
          <p:cNvSpPr txBox="1"/>
          <p:nvPr/>
        </p:nvSpPr>
        <p:spPr>
          <a:xfrm>
            <a:off x="4780778" y="7231748"/>
            <a:ext cx="3258905" cy="867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endParaRPr lang="en-GB" dirty="0"/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endParaRPr lang="en-GB" dirty="0"/>
          </a:p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sz="1800" dirty="0"/>
              <a:t>Chart adjustment and annotation</a:t>
            </a:r>
            <a:endParaRPr sz="1800" dirty="0"/>
          </a:p>
        </p:txBody>
      </p:sp>
      <p:sp>
        <p:nvSpPr>
          <p:cNvPr id="458" name="Manipulate Variables">
            <a:extLst>
              <a:ext uri="{FF2B5EF4-FFF2-40B4-BE49-F238E27FC236}">
                <a16:creationId xmlns:a16="http://schemas.microsoft.com/office/drawing/2014/main" id="{DA97D1CD-51DE-34C9-C268-364347D299B6}"/>
              </a:ext>
            </a:extLst>
          </p:cNvPr>
          <p:cNvSpPr txBox="1"/>
          <p:nvPr/>
        </p:nvSpPr>
        <p:spPr>
          <a:xfrm>
            <a:off x="9426688" y="4092096"/>
            <a:ext cx="112050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Palettes</a:t>
            </a:r>
            <a:endParaRPr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8A6FFF2-3765-1776-1F61-517DC0F5EBD3}"/>
              </a:ext>
            </a:extLst>
          </p:cNvPr>
          <p:cNvGrpSpPr/>
          <p:nvPr/>
        </p:nvGrpSpPr>
        <p:grpSpPr>
          <a:xfrm>
            <a:off x="9341072" y="4675691"/>
            <a:ext cx="2702384" cy="1977786"/>
            <a:chOff x="8907128" y="6433809"/>
            <a:chExt cx="2702384" cy="1977786"/>
          </a:xfrm>
        </p:grpSpPr>
        <p:sp>
          <p:nvSpPr>
            <p:cNvPr id="383" name="Useful Elements"/>
            <p:cNvSpPr txBox="1"/>
            <p:nvPr/>
          </p:nvSpPr>
          <p:spPr>
            <a:xfrm>
              <a:off x="9880386" y="8071566"/>
              <a:ext cx="25713" cy="34002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endParaRPr dirty="0"/>
            </a:p>
          </p:txBody>
        </p: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4002113F-DF6E-AF50-3E8A-B8DB8BE6A83A}"/>
                </a:ext>
              </a:extLst>
            </p:cNvPr>
            <p:cNvGrpSpPr/>
            <p:nvPr/>
          </p:nvGrpSpPr>
          <p:grpSpPr>
            <a:xfrm>
              <a:off x="8907128" y="6433809"/>
              <a:ext cx="2702384" cy="1124005"/>
              <a:chOff x="9008327" y="4176352"/>
              <a:chExt cx="2702384" cy="1124005"/>
            </a:xfrm>
          </p:grpSpPr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EAEF9BE3-6A12-6EF1-B913-623E0AA40594}"/>
                  </a:ext>
                </a:extLst>
              </p:cNvPr>
              <p:cNvSpPr txBox="1"/>
              <p:nvPr/>
            </p:nvSpPr>
            <p:spPr>
              <a:xfrm>
                <a:off x="9008981" y="4176352"/>
                <a:ext cx="381114" cy="289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000" b="1" i="0" u="none" strike="noStrike" cap="none" spc="0" normalizeH="0" baseline="0" dirty="0">
                    <a:ln>
                      <a:noFill/>
                    </a:ln>
                    <a:solidFill>
                      <a:srgbClr val="4C4C4C"/>
                    </a:solidFill>
                    <a:effectLst/>
                    <a:uFillTx/>
                    <a:latin typeface="National-LFSN Book" panose="020B0504030502020203" pitchFamily="34" charset="0"/>
                    <a:sym typeface="Source Sans Pro"/>
                  </a:rPr>
                  <a:t>main</a:t>
                </a: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7FE849CA-C93E-AF02-E749-BBD4AF2A0660}"/>
                  </a:ext>
                </a:extLst>
              </p:cNvPr>
              <p:cNvSpPr/>
              <p:nvPr/>
            </p:nvSpPr>
            <p:spPr>
              <a:xfrm>
                <a:off x="10988445" y="4481381"/>
                <a:ext cx="180000" cy="180000"/>
              </a:xfrm>
              <a:prstGeom prst="rect">
                <a:avLst/>
              </a:prstGeom>
              <a:solidFill>
                <a:srgbClr val="30629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55998F2-5979-2658-F89D-D2F18F03D4A0}"/>
                  </a:ext>
                </a:extLst>
              </p:cNvPr>
              <p:cNvSpPr/>
              <p:nvPr/>
            </p:nvSpPr>
            <p:spPr>
              <a:xfrm>
                <a:off x="11170711" y="4481119"/>
                <a:ext cx="180000" cy="180000"/>
              </a:xfrm>
              <a:prstGeom prst="rect">
                <a:avLst/>
              </a:prstGeom>
              <a:solidFill>
                <a:srgbClr val="00A1CC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55F17186-93D3-E90B-D640-9CF619426498}"/>
                  </a:ext>
                </a:extLst>
              </p:cNvPr>
              <p:cNvSpPr/>
              <p:nvPr/>
            </p:nvSpPr>
            <p:spPr>
              <a:xfrm>
                <a:off x="11350711" y="4481119"/>
                <a:ext cx="180000" cy="180000"/>
              </a:xfrm>
              <a:prstGeom prst="rect">
                <a:avLst/>
              </a:prstGeom>
              <a:solidFill>
                <a:srgbClr val="C23F1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73218C69-F90A-55F8-7FDC-F489AE9858EB}"/>
                  </a:ext>
                </a:extLst>
              </p:cNvPr>
              <p:cNvSpPr/>
              <p:nvPr/>
            </p:nvSpPr>
            <p:spPr>
              <a:xfrm>
                <a:off x="11530711" y="4481119"/>
                <a:ext cx="180000" cy="180000"/>
              </a:xfrm>
              <a:prstGeom prst="rect">
                <a:avLst/>
              </a:prstGeom>
              <a:solidFill>
                <a:srgbClr val="800F1B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B4B631A8-4E91-ED52-9974-10486A18FCF2}"/>
                  </a:ext>
                </a:extLst>
              </p:cNvPr>
              <p:cNvSpPr txBox="1"/>
              <p:nvPr/>
            </p:nvSpPr>
            <p:spPr>
              <a:xfrm>
                <a:off x="9008327" y="4447103"/>
                <a:ext cx="251270" cy="289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000" b="1" i="0" u="none" strike="noStrike" cap="none" spc="0" normalizeH="0" baseline="0" dirty="0">
                    <a:ln>
                      <a:noFill/>
                    </a:ln>
                    <a:solidFill>
                      <a:srgbClr val="4C4C4C"/>
                    </a:solidFill>
                    <a:effectLst/>
                    <a:uFillTx/>
                    <a:latin typeface="National-LFSN Book" panose="020B0504030502020203" pitchFamily="34" charset="0"/>
                    <a:sym typeface="Source Sans Pro"/>
                  </a:rPr>
                  <a:t>all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335D5ABF-71F9-0263-67E2-87BB4CB9DF57}"/>
                  </a:ext>
                </a:extLst>
              </p:cNvPr>
              <p:cNvSpPr txBox="1"/>
              <p:nvPr/>
            </p:nvSpPr>
            <p:spPr>
              <a:xfrm>
                <a:off x="9013115" y="4736845"/>
                <a:ext cx="424394" cy="289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000" b="1" i="0" u="none" strike="noStrike" cap="none" spc="0" normalizeH="0" baseline="0" dirty="0">
                    <a:ln>
                      <a:noFill/>
                    </a:ln>
                    <a:solidFill>
                      <a:srgbClr val="4C4C4C"/>
                    </a:solidFill>
                    <a:effectLst/>
                    <a:uFillTx/>
                    <a:latin typeface="National-LFSN Book" panose="020B0504030502020203" pitchFamily="34" charset="0"/>
                    <a:sym typeface="Source Sans Pro"/>
                  </a:rPr>
                  <a:t>green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6CC37E15-A7A5-DBCB-E303-9D81CE5CB39F}"/>
                  </a:ext>
                </a:extLst>
              </p:cNvPr>
              <p:cNvSpPr txBox="1"/>
              <p:nvPr/>
            </p:nvSpPr>
            <p:spPr>
              <a:xfrm>
                <a:off x="9008327" y="5010615"/>
                <a:ext cx="780261" cy="28974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000" b="1" i="0" u="none" strike="noStrike" cap="none" spc="0" normalizeH="0" baseline="0" dirty="0" err="1">
                    <a:ln>
                      <a:noFill/>
                    </a:ln>
                    <a:solidFill>
                      <a:srgbClr val="4C4C4C"/>
                    </a:solidFill>
                    <a:effectLst/>
                    <a:uFillTx/>
                    <a:latin typeface="National-LFSN Book" panose="020B0504030502020203" pitchFamily="34" charset="0"/>
                    <a:sym typeface="Source Sans Pro"/>
                  </a:rPr>
                  <a:t>greenpurple</a:t>
                </a:r>
                <a:endParaRPr kumimoji="0" lang="en-GB" sz="1000" b="1" i="0" u="none" strike="noStrike" cap="none" spc="0" normalizeH="0" baseline="0" dirty="0">
                  <a:ln>
                    <a:noFill/>
                  </a:ln>
                  <a:solidFill>
                    <a:srgbClr val="4C4C4C"/>
                  </a:solidFill>
                  <a:effectLst/>
                  <a:uFillTx/>
                  <a:latin typeface="National-LFSN Book" panose="020B0504030502020203" pitchFamily="34" charset="0"/>
                  <a:sym typeface="Source Sans Pro"/>
                </a:endParaRPr>
              </a:p>
            </p:txBody>
          </p:sp>
        </p:grpSp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0204AE23-8386-F1A7-7304-AB758AEA7420}"/>
                </a:ext>
              </a:extLst>
            </p:cNvPr>
            <p:cNvGrpSpPr/>
            <p:nvPr/>
          </p:nvGrpSpPr>
          <p:grpSpPr>
            <a:xfrm>
              <a:off x="9806938" y="6459026"/>
              <a:ext cx="1081159" cy="180000"/>
              <a:chOff x="9806938" y="6463789"/>
              <a:chExt cx="1081159" cy="180000"/>
            </a:xfrm>
          </p:grpSpPr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38D796B7-FC8F-1BA9-4D32-2A33075E4173}"/>
                  </a:ext>
                </a:extLst>
              </p:cNvPr>
              <p:cNvSpPr/>
              <p:nvPr/>
            </p:nvSpPr>
            <p:spPr>
              <a:xfrm>
                <a:off x="9806938" y="6463789"/>
                <a:ext cx="180000" cy="180000"/>
              </a:xfrm>
              <a:prstGeom prst="rect">
                <a:avLst/>
              </a:prstGeom>
              <a:solidFill>
                <a:srgbClr val="00654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898361DF-1374-5CC8-2BB6-67AEA8B31EAF}"/>
                  </a:ext>
                </a:extLst>
              </p:cNvPr>
              <p:cNvSpPr/>
              <p:nvPr/>
            </p:nvSpPr>
            <p:spPr>
              <a:xfrm>
                <a:off x="9987762" y="6463789"/>
                <a:ext cx="180000" cy="180000"/>
              </a:xfrm>
              <a:prstGeom prst="rect">
                <a:avLst/>
              </a:prstGeom>
              <a:solidFill>
                <a:srgbClr val="3F9D8A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12A048DF-9322-D39E-197D-1D572F2200C3}"/>
                  </a:ext>
                </a:extLst>
              </p:cNvPr>
              <p:cNvSpPr/>
              <p:nvPr/>
            </p:nvSpPr>
            <p:spPr>
              <a:xfrm>
                <a:off x="10168588" y="6463789"/>
                <a:ext cx="180000" cy="180000"/>
              </a:xfrm>
              <a:prstGeom prst="rect">
                <a:avLst/>
              </a:prstGeom>
              <a:solidFill>
                <a:srgbClr val="003F2B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E7703EC8-D33F-97A8-1858-9B4A96E8512C}"/>
                  </a:ext>
                </a:extLst>
              </p:cNvPr>
              <p:cNvSpPr/>
              <p:nvPr/>
            </p:nvSpPr>
            <p:spPr>
              <a:xfrm>
                <a:off x="10346912" y="6463789"/>
                <a:ext cx="180000" cy="180000"/>
              </a:xfrm>
              <a:prstGeom prst="rect">
                <a:avLst/>
              </a:prstGeom>
              <a:solidFill>
                <a:srgbClr val="682F7F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1C7117BD-30B6-7F5B-7772-75FA634A9BA6}"/>
                  </a:ext>
                </a:extLst>
              </p:cNvPr>
              <p:cNvSpPr/>
              <p:nvPr/>
            </p:nvSpPr>
            <p:spPr>
              <a:xfrm>
                <a:off x="10525240" y="6463789"/>
                <a:ext cx="180000" cy="180000"/>
              </a:xfrm>
              <a:prstGeom prst="rect">
                <a:avLst/>
              </a:prstGeom>
              <a:solidFill>
                <a:srgbClr val="A37EC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410D9AFC-BF63-37FE-C10A-BAF957BD26C9}"/>
                  </a:ext>
                </a:extLst>
              </p:cNvPr>
              <p:cNvSpPr/>
              <p:nvPr/>
            </p:nvSpPr>
            <p:spPr>
              <a:xfrm>
                <a:off x="10708097" y="6463789"/>
                <a:ext cx="180000" cy="180000"/>
              </a:xfrm>
              <a:prstGeom prst="rect">
                <a:avLst/>
              </a:prstGeom>
              <a:solidFill>
                <a:srgbClr val="E09F00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grpSp>
          <p:nvGrpSpPr>
            <p:cNvPr id="498" name="Group 497">
              <a:extLst>
                <a:ext uri="{FF2B5EF4-FFF2-40B4-BE49-F238E27FC236}">
                  <a16:creationId xmlns:a16="http://schemas.microsoft.com/office/drawing/2014/main" id="{CA78E39C-890C-EC2F-E867-0FDEEB104DF0}"/>
                </a:ext>
              </a:extLst>
            </p:cNvPr>
            <p:cNvGrpSpPr/>
            <p:nvPr/>
          </p:nvGrpSpPr>
          <p:grpSpPr>
            <a:xfrm>
              <a:off x="9806681" y="6738838"/>
              <a:ext cx="1081159" cy="180000"/>
              <a:chOff x="9806938" y="6463789"/>
              <a:chExt cx="1081159" cy="180000"/>
            </a:xfrm>
          </p:grpSpPr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E62C3701-2FBC-BC7F-DC99-E48D25590105}"/>
                  </a:ext>
                </a:extLst>
              </p:cNvPr>
              <p:cNvSpPr/>
              <p:nvPr/>
            </p:nvSpPr>
            <p:spPr>
              <a:xfrm>
                <a:off x="9806938" y="6463789"/>
                <a:ext cx="180000" cy="180000"/>
              </a:xfrm>
              <a:prstGeom prst="rect">
                <a:avLst/>
              </a:prstGeom>
              <a:solidFill>
                <a:srgbClr val="00654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C1670E9E-89F3-0E5C-6636-9BC4C0DA2CC5}"/>
                  </a:ext>
                </a:extLst>
              </p:cNvPr>
              <p:cNvSpPr/>
              <p:nvPr/>
            </p:nvSpPr>
            <p:spPr>
              <a:xfrm>
                <a:off x="9987762" y="6463789"/>
                <a:ext cx="180000" cy="180000"/>
              </a:xfrm>
              <a:prstGeom prst="rect">
                <a:avLst/>
              </a:prstGeom>
              <a:solidFill>
                <a:srgbClr val="3F9D8A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2BA80669-EDE6-265E-91F6-51393209ED0D}"/>
                  </a:ext>
                </a:extLst>
              </p:cNvPr>
              <p:cNvSpPr/>
              <p:nvPr/>
            </p:nvSpPr>
            <p:spPr>
              <a:xfrm>
                <a:off x="10168588" y="6463789"/>
                <a:ext cx="180000" cy="180000"/>
              </a:xfrm>
              <a:prstGeom prst="rect">
                <a:avLst/>
              </a:prstGeom>
              <a:solidFill>
                <a:srgbClr val="003F2B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F92E0837-2522-55C3-A967-E4A4252D994E}"/>
                  </a:ext>
                </a:extLst>
              </p:cNvPr>
              <p:cNvSpPr/>
              <p:nvPr/>
            </p:nvSpPr>
            <p:spPr>
              <a:xfrm>
                <a:off x="10346912" y="6463789"/>
                <a:ext cx="180000" cy="180000"/>
              </a:xfrm>
              <a:prstGeom prst="rect">
                <a:avLst/>
              </a:prstGeom>
              <a:solidFill>
                <a:srgbClr val="682F7F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9DF45CCA-0EF1-46EF-4EB2-66C34C5316D6}"/>
                  </a:ext>
                </a:extLst>
              </p:cNvPr>
              <p:cNvSpPr/>
              <p:nvPr/>
            </p:nvSpPr>
            <p:spPr>
              <a:xfrm>
                <a:off x="10525240" y="6463789"/>
                <a:ext cx="180000" cy="180000"/>
              </a:xfrm>
              <a:prstGeom prst="rect">
                <a:avLst/>
              </a:prstGeom>
              <a:solidFill>
                <a:srgbClr val="A37EC8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2ECDFFD0-7013-E0FF-BA57-3528738FF7F9}"/>
                  </a:ext>
                </a:extLst>
              </p:cNvPr>
              <p:cNvSpPr/>
              <p:nvPr/>
            </p:nvSpPr>
            <p:spPr>
              <a:xfrm>
                <a:off x="10708097" y="6463789"/>
                <a:ext cx="180000" cy="180000"/>
              </a:xfrm>
              <a:prstGeom prst="rect">
                <a:avLst/>
              </a:prstGeom>
              <a:solidFill>
                <a:srgbClr val="E09F00"/>
              </a:solidFill>
              <a:ln w="12700" cap="flat">
                <a:noFill/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4570" tIns="54570" rIns="54570" bIns="54570" numCol="1" spcCol="38100" rtlCol="0" anchor="ctr">
                <a:spAutoFit/>
              </a:bodyPr>
              <a:lstStyle/>
              <a:p>
                <a:pPr marL="0" marR="0" indent="0" algn="l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GB" sz="12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endParaRPr>
              </a:p>
            </p:txBody>
          </p:sp>
        </p:grp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73199C2E-1265-C567-F0B0-9FFD166168F5}"/>
                </a:ext>
              </a:extLst>
            </p:cNvPr>
            <p:cNvSpPr/>
            <p:nvPr/>
          </p:nvSpPr>
          <p:spPr>
            <a:xfrm>
              <a:off x="9807764" y="7030341"/>
              <a:ext cx="180000" cy="180000"/>
            </a:xfrm>
            <a:prstGeom prst="rect">
              <a:avLst/>
            </a:prstGeom>
            <a:solidFill>
              <a:srgbClr val="006548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90BFD0A2-73EE-58A5-2D88-B121FA2925D4}"/>
                </a:ext>
              </a:extLst>
            </p:cNvPr>
            <p:cNvSpPr/>
            <p:nvPr/>
          </p:nvSpPr>
          <p:spPr>
            <a:xfrm>
              <a:off x="9988588" y="7030341"/>
              <a:ext cx="180000" cy="180000"/>
            </a:xfrm>
            <a:prstGeom prst="rect">
              <a:avLst/>
            </a:prstGeom>
            <a:solidFill>
              <a:srgbClr val="3F9D8A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30A03A1A-3772-D07D-8DB8-E2D901F97218}"/>
                </a:ext>
              </a:extLst>
            </p:cNvPr>
            <p:cNvSpPr/>
            <p:nvPr/>
          </p:nvSpPr>
          <p:spPr>
            <a:xfrm>
              <a:off x="10169414" y="7030341"/>
              <a:ext cx="180000" cy="180000"/>
            </a:xfrm>
            <a:prstGeom prst="rect">
              <a:avLst/>
            </a:prstGeom>
            <a:solidFill>
              <a:srgbClr val="003F2B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2DA8A4B-DDEF-A643-A717-B632BA2CED7C}"/>
                </a:ext>
              </a:extLst>
            </p:cNvPr>
            <p:cNvSpPr/>
            <p:nvPr/>
          </p:nvSpPr>
          <p:spPr>
            <a:xfrm>
              <a:off x="9808357" y="7331111"/>
              <a:ext cx="180000" cy="180000"/>
            </a:xfrm>
            <a:prstGeom prst="rect">
              <a:avLst/>
            </a:prstGeom>
            <a:solidFill>
              <a:srgbClr val="003F2B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889EF94-2CFB-F8B3-D6DC-8CAD807DE201}"/>
                </a:ext>
              </a:extLst>
            </p:cNvPr>
            <p:cNvSpPr/>
            <p:nvPr/>
          </p:nvSpPr>
          <p:spPr>
            <a:xfrm>
              <a:off x="9986681" y="7331111"/>
              <a:ext cx="180000" cy="180000"/>
            </a:xfrm>
            <a:prstGeom prst="rect">
              <a:avLst/>
            </a:prstGeom>
            <a:solidFill>
              <a:srgbClr val="682F7F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4570" tIns="54570" rIns="54570" bIns="54570" numCol="1" spcCol="38100" rtlCol="0" anchor="ctr">
              <a:spAutoFit/>
            </a:bodyPr>
            <a:lstStyle/>
            <a:p>
              <a:pPr marL="0" marR="0" indent="0" algn="l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2E270B53-20D2-DC97-3E78-1BE5334ED557}"/>
              </a:ext>
            </a:extLst>
          </p:cNvPr>
          <p:cNvSpPr txBox="1"/>
          <p:nvPr/>
        </p:nvSpPr>
        <p:spPr>
          <a:xfrm>
            <a:off x="9328037" y="6009413"/>
            <a:ext cx="7020426" cy="6925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rPr lang="en-GB" dirty="0" err="1"/>
              <a:t>scale_color_commonslib</a:t>
            </a:r>
            <a:r>
              <a:rPr lang="en-GB" dirty="0"/>
              <a:t>(palette=&lt;</a:t>
            </a:r>
            <a:r>
              <a:rPr lang="en-GB" dirty="0" err="1"/>
              <a:t>palette_name</a:t>
            </a:r>
            <a:r>
              <a:rPr lang="en-GB" dirty="0"/>
              <a:t>&gt;)</a:t>
            </a:r>
          </a:p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lang="en-GB" dirty="0"/>
          </a:p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rPr lang="en-GB" dirty="0" err="1"/>
              <a:t>scale_fill_commonslib</a:t>
            </a:r>
            <a:r>
              <a:rPr lang="en-GB" dirty="0"/>
              <a:t>(palette=&lt;</a:t>
            </a:r>
            <a:r>
              <a:rPr lang="en-GB" dirty="0" err="1"/>
              <a:t>palette_name</a:t>
            </a:r>
            <a:r>
              <a:rPr lang="en-GB" dirty="0"/>
              <a:t>&gt;)</a:t>
            </a:r>
          </a:p>
        </p:txBody>
      </p:sp>
      <p:grpSp>
        <p:nvGrpSpPr>
          <p:cNvPr id="137" name="Group">
            <a:extLst>
              <a:ext uri="{FF2B5EF4-FFF2-40B4-BE49-F238E27FC236}">
                <a16:creationId xmlns:a16="http://schemas.microsoft.com/office/drawing/2014/main" id="{A5123FEE-2716-5CFA-829B-1E347CF5ACBD}"/>
              </a:ext>
            </a:extLst>
          </p:cNvPr>
          <p:cNvGrpSpPr/>
          <p:nvPr/>
        </p:nvGrpSpPr>
        <p:grpSpPr>
          <a:xfrm>
            <a:off x="4868162" y="8201956"/>
            <a:ext cx="720776" cy="653857"/>
            <a:chOff x="0" y="0"/>
            <a:chExt cx="448425" cy="448544"/>
          </a:xfrm>
        </p:grpSpPr>
        <p:pic>
          <p:nvPicPr>
            <p:cNvPr id="138" name="Image" descr="Image">
              <a:extLst>
                <a:ext uri="{FF2B5EF4-FFF2-40B4-BE49-F238E27FC236}">
                  <a16:creationId xmlns:a16="http://schemas.microsoft.com/office/drawing/2014/main" id="{4D38AEB6-9CB6-20B4-656E-17064C8D3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9" name="Line">
              <a:extLst>
                <a:ext uri="{FF2B5EF4-FFF2-40B4-BE49-F238E27FC236}">
                  <a16:creationId xmlns:a16="http://schemas.microsoft.com/office/drawing/2014/main" id="{00B9D2FE-BF1C-ACAF-1B70-1CB121540FD3}"/>
                </a:ext>
              </a:extLst>
            </p:cNvPr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40" name="ggplot(mpg, aes(hwy, cty)) +…">
            <a:extLst>
              <a:ext uri="{FF2B5EF4-FFF2-40B4-BE49-F238E27FC236}">
                <a16:creationId xmlns:a16="http://schemas.microsoft.com/office/drawing/2014/main" id="{B3DEC55D-1A37-B335-E378-F82CE3867449}"/>
              </a:ext>
            </a:extLst>
          </p:cNvPr>
          <p:cNvSpPr txBox="1"/>
          <p:nvPr/>
        </p:nvSpPr>
        <p:spPr>
          <a:xfrm>
            <a:off x="4807883" y="9243811"/>
            <a:ext cx="1234215" cy="11258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labs(caption=&lt;caption&gt;)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 err="1"/>
              <a:t>theme_commonslib</a:t>
            </a:r>
            <a:r>
              <a:rPr lang="en-GB" sz="900" dirty="0"/>
              <a:t>(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 err="1"/>
              <a:t>caption_position</a:t>
            </a:r>
            <a:r>
              <a:rPr lang="en-GB" sz="900" dirty="0"/>
              <a:t>=&lt;</a:t>
            </a:r>
            <a:r>
              <a:rPr lang="en-GB" sz="900" dirty="0" err="1"/>
              <a:t>left|right</a:t>
            </a:r>
            <a:r>
              <a:rPr lang="en-GB" sz="900" dirty="0"/>
              <a:t>&gt;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77A225A-E346-24F4-CC4A-AD8651E146F8}"/>
              </a:ext>
            </a:extLst>
          </p:cNvPr>
          <p:cNvSpPr txBox="1"/>
          <p:nvPr/>
        </p:nvSpPr>
        <p:spPr>
          <a:xfrm>
            <a:off x="5156815" y="8766875"/>
            <a:ext cx="16310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8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6FCEABE-A905-71E7-8AD4-9CB7E102A2E3}"/>
              </a:ext>
            </a:extLst>
          </p:cNvPr>
          <p:cNvSpPr txBox="1"/>
          <p:nvPr/>
        </p:nvSpPr>
        <p:spPr>
          <a:xfrm>
            <a:off x="4730691" y="8376321"/>
            <a:ext cx="16310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800" dirty="0"/>
              <a:t>y</a:t>
            </a:r>
            <a:endParaRPr kumimoji="0" lang="en-GB" sz="8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BDA477-EB4E-748B-1C8B-8E41876F2699}"/>
              </a:ext>
            </a:extLst>
          </p:cNvPr>
          <p:cNvSpPr txBox="1"/>
          <p:nvPr/>
        </p:nvSpPr>
        <p:spPr>
          <a:xfrm>
            <a:off x="5199383" y="8899499"/>
            <a:ext cx="458058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800" dirty="0"/>
              <a:t>caption</a:t>
            </a:r>
            <a:endParaRPr kumimoji="0" lang="en-GB" sz="8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44" name="Group">
            <a:extLst>
              <a:ext uri="{FF2B5EF4-FFF2-40B4-BE49-F238E27FC236}">
                <a16:creationId xmlns:a16="http://schemas.microsoft.com/office/drawing/2014/main" id="{35F5EE3D-1CEF-1BF4-209A-62C3F1434348}"/>
              </a:ext>
            </a:extLst>
          </p:cNvPr>
          <p:cNvGrpSpPr/>
          <p:nvPr/>
        </p:nvGrpSpPr>
        <p:grpSpPr>
          <a:xfrm>
            <a:off x="6254936" y="8193907"/>
            <a:ext cx="720776" cy="653857"/>
            <a:chOff x="0" y="0"/>
            <a:chExt cx="448425" cy="448544"/>
          </a:xfrm>
        </p:grpSpPr>
        <p:pic>
          <p:nvPicPr>
            <p:cNvPr id="145" name="Image" descr="Image">
              <a:extLst>
                <a:ext uri="{FF2B5EF4-FFF2-40B4-BE49-F238E27FC236}">
                  <a16:creationId xmlns:a16="http://schemas.microsoft.com/office/drawing/2014/main" id="{E65BB0D8-5C81-63AC-805F-E587D1DE6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6" name="Line">
              <a:extLst>
                <a:ext uri="{FF2B5EF4-FFF2-40B4-BE49-F238E27FC236}">
                  <a16:creationId xmlns:a16="http://schemas.microsoft.com/office/drawing/2014/main" id="{02438969-6714-D093-7088-DEBE065C87AD}"/>
                </a:ext>
              </a:extLst>
            </p:cNvPr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06298593-71DB-7C46-6464-CE8A5710766C}"/>
              </a:ext>
            </a:extLst>
          </p:cNvPr>
          <p:cNvSpPr txBox="1"/>
          <p:nvPr/>
        </p:nvSpPr>
        <p:spPr>
          <a:xfrm>
            <a:off x="6117465" y="8368272"/>
            <a:ext cx="16310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800" dirty="0"/>
              <a:t>y</a:t>
            </a:r>
            <a:endParaRPr kumimoji="0" lang="en-GB" sz="800" b="1" i="0" u="none" strike="noStrike" cap="none" spc="0" normalizeH="0" baseline="0" dirty="0">
              <a:ln>
                <a:noFill/>
              </a:ln>
              <a:solidFill>
                <a:srgbClr val="4C4C4C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0" name="ggplot(mpg, aes(hwy, cty)) +…">
            <a:extLst>
              <a:ext uri="{FF2B5EF4-FFF2-40B4-BE49-F238E27FC236}">
                <a16:creationId xmlns:a16="http://schemas.microsoft.com/office/drawing/2014/main" id="{660BA4BB-B33F-4B74-477B-105BF5C851C9}"/>
              </a:ext>
            </a:extLst>
          </p:cNvPr>
          <p:cNvSpPr txBox="1"/>
          <p:nvPr/>
        </p:nvSpPr>
        <p:spPr>
          <a:xfrm>
            <a:off x="6243591" y="9205021"/>
            <a:ext cx="732121" cy="24870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labs(x=NULL)</a:t>
            </a:r>
            <a:endParaRPr dirty="0"/>
          </a:p>
        </p:txBody>
      </p:sp>
      <p:grpSp>
        <p:nvGrpSpPr>
          <p:cNvPr id="151" name="Group">
            <a:extLst>
              <a:ext uri="{FF2B5EF4-FFF2-40B4-BE49-F238E27FC236}">
                <a16:creationId xmlns:a16="http://schemas.microsoft.com/office/drawing/2014/main" id="{E5212D30-F91A-2F84-C181-D5FA4D4A3853}"/>
              </a:ext>
            </a:extLst>
          </p:cNvPr>
          <p:cNvGrpSpPr/>
          <p:nvPr/>
        </p:nvGrpSpPr>
        <p:grpSpPr>
          <a:xfrm>
            <a:off x="7409743" y="8193907"/>
            <a:ext cx="720776" cy="653857"/>
            <a:chOff x="0" y="0"/>
            <a:chExt cx="448425" cy="448544"/>
          </a:xfrm>
        </p:grpSpPr>
        <p:pic>
          <p:nvPicPr>
            <p:cNvPr id="152" name="Image" descr="Image">
              <a:extLst>
                <a:ext uri="{FF2B5EF4-FFF2-40B4-BE49-F238E27FC236}">
                  <a16:creationId xmlns:a16="http://schemas.microsoft.com/office/drawing/2014/main" id="{F4B1011E-79A1-C343-1B8A-D62BA4EE5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3" name="Line">
              <a:extLst>
                <a:ext uri="{FF2B5EF4-FFF2-40B4-BE49-F238E27FC236}">
                  <a16:creationId xmlns:a16="http://schemas.microsoft.com/office/drawing/2014/main" id="{81401DA6-51C5-DDB3-4EC5-A7A1D557C137}"/>
                </a:ext>
              </a:extLst>
            </p:cNvPr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55" name="ggplot(mpg, aes(hwy, cty)) +…">
            <a:extLst>
              <a:ext uri="{FF2B5EF4-FFF2-40B4-BE49-F238E27FC236}">
                <a16:creationId xmlns:a16="http://schemas.microsoft.com/office/drawing/2014/main" id="{20BC19D6-02F8-AF23-B9E9-DB3903273F05}"/>
              </a:ext>
            </a:extLst>
          </p:cNvPr>
          <p:cNvSpPr txBox="1"/>
          <p:nvPr/>
        </p:nvSpPr>
        <p:spPr>
          <a:xfrm>
            <a:off x="7398398" y="9205021"/>
            <a:ext cx="732121" cy="24870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labs(y=NULL)</a:t>
            </a:r>
            <a:endParaRPr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11A1D6B-4309-2A52-F55D-CB313B09F3D8}"/>
              </a:ext>
            </a:extLst>
          </p:cNvPr>
          <p:cNvSpPr txBox="1"/>
          <p:nvPr/>
        </p:nvSpPr>
        <p:spPr>
          <a:xfrm>
            <a:off x="7710699" y="8811381"/>
            <a:ext cx="163105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800" b="1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</a:p>
        </p:txBody>
      </p:sp>
      <p:grpSp>
        <p:nvGrpSpPr>
          <p:cNvPr id="163" name="Group">
            <a:extLst>
              <a:ext uri="{FF2B5EF4-FFF2-40B4-BE49-F238E27FC236}">
                <a16:creationId xmlns:a16="http://schemas.microsoft.com/office/drawing/2014/main" id="{D60CDFEA-03E3-832F-F4C6-735DE2021050}"/>
              </a:ext>
            </a:extLst>
          </p:cNvPr>
          <p:cNvGrpSpPr/>
          <p:nvPr/>
        </p:nvGrpSpPr>
        <p:grpSpPr>
          <a:xfrm>
            <a:off x="8549852" y="8206221"/>
            <a:ext cx="655251" cy="653857"/>
            <a:chOff x="0" y="0"/>
            <a:chExt cx="448425" cy="448544"/>
          </a:xfrm>
        </p:grpSpPr>
        <p:pic>
          <p:nvPicPr>
            <p:cNvPr id="164" name="Image" descr="Image">
              <a:extLst>
                <a:ext uri="{FF2B5EF4-FFF2-40B4-BE49-F238E27FC236}">
                  <a16:creationId xmlns:a16="http://schemas.microsoft.com/office/drawing/2014/main" id="{B1BD43FC-EA03-6ED8-379C-EC18E1701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5" name="Line">
              <a:extLst>
                <a:ext uri="{FF2B5EF4-FFF2-40B4-BE49-F238E27FC236}">
                  <a16:creationId xmlns:a16="http://schemas.microsoft.com/office/drawing/2014/main" id="{C7690F18-1FB9-2569-9D3F-9F252DA28CDD}"/>
                </a:ext>
              </a:extLst>
            </p:cNvPr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66" name="ggplot(mpg, aes(hwy, cty)) +…">
            <a:extLst>
              <a:ext uri="{FF2B5EF4-FFF2-40B4-BE49-F238E27FC236}">
                <a16:creationId xmlns:a16="http://schemas.microsoft.com/office/drawing/2014/main" id="{79753FB3-5F93-5FB1-A25F-54BBCCB91E83}"/>
              </a:ext>
            </a:extLst>
          </p:cNvPr>
          <p:cNvSpPr txBox="1"/>
          <p:nvPr/>
        </p:nvSpPr>
        <p:spPr>
          <a:xfrm>
            <a:off x="8456810" y="9109578"/>
            <a:ext cx="1234215" cy="1402867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 err="1"/>
              <a:t>annotate_commonslib</a:t>
            </a:r>
            <a:r>
              <a:rPr lang="en-GB" sz="900" dirty="0"/>
              <a:t>(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x=&lt;x&gt;, y=&lt;y&gt;, label=&lt;label&gt;,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size=4.2)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GB" sz="900" dirty="0"/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Equivalent to 12pt, size is in mm (1 pt =0.35mm)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A34B937-7672-1D7D-546A-5FE66BBB240A}"/>
              </a:ext>
            </a:extLst>
          </p:cNvPr>
          <p:cNvSpPr txBox="1"/>
          <p:nvPr/>
        </p:nvSpPr>
        <p:spPr>
          <a:xfrm>
            <a:off x="8717245" y="8119632"/>
            <a:ext cx="320200" cy="258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800" b="0" i="0" u="none" strike="noStrike" cap="none" spc="0" normalizeH="0" baseline="0" dirty="0">
                <a:ln>
                  <a:noFill/>
                </a:ln>
                <a:solidFill>
                  <a:srgbClr val="4C4C4C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label</a:t>
            </a:r>
          </a:p>
        </p:txBody>
      </p:sp>
      <p:sp>
        <p:nvSpPr>
          <p:cNvPr id="3" name="Manipulate Variables">
            <a:extLst>
              <a:ext uri="{FF2B5EF4-FFF2-40B4-BE49-F238E27FC236}">
                <a16:creationId xmlns:a16="http://schemas.microsoft.com/office/drawing/2014/main" id="{B2589421-8F7A-17CF-A974-E7BA8AFACD3E}"/>
              </a:ext>
            </a:extLst>
          </p:cNvPr>
          <p:cNvSpPr txBox="1"/>
          <p:nvPr/>
        </p:nvSpPr>
        <p:spPr>
          <a:xfrm>
            <a:off x="9435669" y="7175351"/>
            <a:ext cx="92333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Saving</a:t>
            </a:r>
            <a:endParaRPr dirty="0"/>
          </a:p>
        </p:txBody>
      </p:sp>
      <p:sp>
        <p:nvSpPr>
          <p:cNvPr id="6" name="ggplot(mpg, aes(hwy, cty)) +…">
            <a:extLst>
              <a:ext uri="{FF2B5EF4-FFF2-40B4-BE49-F238E27FC236}">
                <a16:creationId xmlns:a16="http://schemas.microsoft.com/office/drawing/2014/main" id="{BFA31AFE-10F9-ADF9-5DF4-E7CB940378A8}"/>
              </a:ext>
            </a:extLst>
          </p:cNvPr>
          <p:cNvSpPr txBox="1"/>
          <p:nvPr/>
        </p:nvSpPr>
        <p:spPr>
          <a:xfrm>
            <a:off x="9908175" y="7867795"/>
            <a:ext cx="3063770" cy="387205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 err="1"/>
              <a:t>save_svg</a:t>
            </a:r>
            <a:r>
              <a:rPr lang="en-GB" sz="900" dirty="0"/>
              <a:t>(plot, filename, width, height)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 err="1"/>
              <a:t>save_png</a:t>
            </a:r>
            <a:r>
              <a:rPr lang="en-GB" sz="900" dirty="0"/>
              <a:t>(plot, filename, width, height, dpi)</a:t>
            </a:r>
          </a:p>
        </p:txBody>
      </p:sp>
      <p:sp>
        <p:nvSpPr>
          <p:cNvPr id="7" name="ggplot(mpg, aes(hwy, cty)) +…">
            <a:extLst>
              <a:ext uri="{FF2B5EF4-FFF2-40B4-BE49-F238E27FC236}">
                <a16:creationId xmlns:a16="http://schemas.microsoft.com/office/drawing/2014/main" id="{A812904E-6EBE-147B-3544-EDC22AA558FB}"/>
              </a:ext>
            </a:extLst>
          </p:cNvPr>
          <p:cNvSpPr txBox="1"/>
          <p:nvPr/>
        </p:nvSpPr>
        <p:spPr>
          <a:xfrm>
            <a:off x="9908175" y="8337451"/>
            <a:ext cx="3063770" cy="112586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lang="en-GB" sz="900" dirty="0"/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width, height in inches.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dpi = dots per inch (default 400)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100-150dpi, lower resolution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300 dpi: standard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sz="900" dirty="0"/>
              <a:t>600 dpi: high detail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a8f77787-5df4-43b6-a2a8-8d8b678a318b}" enabled="1" method="Standard" siteId="{1ce6dd9e-b337-4088-be5e-8dbbec04b3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716</Words>
  <Application>Microsoft Office PowerPoint</Application>
  <PresentationFormat>Custom</PresentationFormat>
  <Paragraphs>133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Avenir</vt:lpstr>
      <vt:lpstr>Helvetica Light</vt:lpstr>
      <vt:lpstr>National-LFSN Book</vt:lpstr>
      <vt:lpstr>National-LFSN Semibd</vt:lpstr>
      <vt:lpstr>Source Sans Pro</vt:lpstr>
      <vt:lpstr>Source Sans Pro Light</vt:lpstr>
      <vt:lpstr>Source Sans Pro Semibold</vt:lpstr>
      <vt:lpstr>White</vt:lpstr>
      <vt:lpstr>Data visualisation with clcharts: : CHEAT SHEET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LEEN, Gayle</dc:creator>
  <cp:lastModifiedBy>LEEN, Gayle</cp:lastModifiedBy>
  <cp:revision>21</cp:revision>
  <dcterms:modified xsi:type="dcterms:W3CDTF">2026-04-28T12:01:30Z</dcterms:modified>
</cp:coreProperties>
</file>