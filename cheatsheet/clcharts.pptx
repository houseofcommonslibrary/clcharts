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13970000" cy="10795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1pPr>
    <a:lvl2pPr marL="0" marR="0" indent="228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2pPr>
    <a:lvl3pPr marL="0" marR="0" indent="457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3pPr>
    <a:lvl4pPr marL="0" marR="0" indent="685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4pPr>
    <a:lvl5pPr marL="0" marR="0" indent="9144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F1B"/>
    <a:srgbClr val="C23F18"/>
    <a:srgbClr val="00A1CC"/>
    <a:srgbClr val="306298"/>
    <a:srgbClr val="E09F00"/>
    <a:srgbClr val="A37EC8"/>
    <a:srgbClr val="682F7F"/>
    <a:srgbClr val="003F2B"/>
    <a:srgbClr val="3F9D8A"/>
    <a:srgbClr val="006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3" autoAdjust="0"/>
    <p:restoredTop sz="94626"/>
  </p:normalViewPr>
  <p:slideViewPr>
    <p:cSldViewPr snapToGrid="0" snapToObjects="1">
      <p:cViewPr>
        <p:scale>
          <a:sx n="50" d="100"/>
          <a:sy n="50" d="100"/>
        </p:scale>
        <p:origin x="16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8" d="100"/>
          <a:sy n="58" d="100"/>
        </p:scale>
        <p:origin x="282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Annotations, captions, and titles and sources, highlighting values, saving,  thousands, legends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966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364257" y="1918642"/>
            <a:ext cx="11241486" cy="354707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5561210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1725786" y="840878"/>
            <a:ext cx="10504786" cy="635744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364257" y="7375673"/>
            <a:ext cx="11241486" cy="152797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8958212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0546"/>
            <a:ext cx="376045" cy="388542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364257" y="3623964"/>
            <a:ext cx="11241486" cy="35470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sz="half" idx="13"/>
          </p:nvPr>
        </p:nvSpPr>
        <p:spPr>
          <a:xfrm>
            <a:off x="7216923" y="840878"/>
            <a:ext cx="5729884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023193" y="840878"/>
            <a:ext cx="5729884" cy="4283771"/>
          </a:xfrm>
          <a:prstGeom prst="rect">
            <a:avLst/>
          </a:prstGeom>
        </p:spPr>
        <p:txBody>
          <a:bodyPr anchor="b"/>
          <a:lstStyle>
            <a:lvl1pPr>
              <a:defRPr sz="3300">
                <a:latin typeface="Source Sans Pro Semibold"/>
                <a:ea typeface="Source Sans Pro Semibold"/>
                <a:cs typeface="Source Sans Pro Semibold"/>
                <a:sym typeface="Source Sans Pro Semibold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23193" y="5274716"/>
            <a:ext cx="5729884" cy="4406554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7216923" y="2955478"/>
            <a:ext cx="5729884" cy="675307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23193" y="2955478"/>
            <a:ext cx="5729884" cy="6753077"/>
          </a:xfrm>
          <a:prstGeom prst="rect">
            <a:avLst/>
          </a:prstGeom>
        </p:spPr>
        <p:txBody>
          <a:bodyPr/>
          <a:lstStyle>
            <a:lvl1pPr marL="146957" indent="-146957">
              <a:defRPr b="1"/>
            </a:lvl1pPr>
            <a:lvl2pPr marL="489857" indent="-146957">
              <a:defRPr b="1"/>
            </a:lvl2pPr>
            <a:lvl3pPr marL="832757" indent="-146957">
              <a:defRPr b="1"/>
            </a:lvl3pPr>
            <a:lvl4pPr marL="1175657" indent="-146957">
              <a:defRPr b="1"/>
            </a:lvl4pPr>
            <a:lvl5pPr marL="1518557" indent="-146957">
              <a:defRPr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1523007"/>
            <a:ext cx="11923614" cy="774898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half" idx="13"/>
          </p:nvPr>
        </p:nvSpPr>
        <p:spPr>
          <a:xfrm>
            <a:off x="1023193" y="1113730"/>
            <a:ext cx="5729884" cy="85675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7216923" y="5629423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sz="quarter" idx="15"/>
          </p:nvPr>
        </p:nvSpPr>
        <p:spPr>
          <a:xfrm>
            <a:off x="7223603" y="1113730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>
            <a:spLocks noGrp="1"/>
          </p:cNvSpPr>
          <p:nvPr>
            <p:ph type="body" sz="quarter" idx="13"/>
          </p:nvPr>
        </p:nvSpPr>
        <p:spPr>
          <a:xfrm>
            <a:off x="1364257" y="6993681"/>
            <a:ext cx="11241486" cy="50800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r">
              <a:lnSpc>
                <a:spcPct val="90000"/>
              </a:lnSpc>
              <a:buSzTx/>
              <a:buNone/>
              <a:defRPr sz="900"/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>
            <a:spLocks noGrp="1"/>
          </p:cNvSpPr>
          <p:nvPr>
            <p:ph type="body" sz="quarter" idx="14"/>
          </p:nvPr>
        </p:nvSpPr>
        <p:spPr>
          <a:xfrm>
            <a:off x="1364257" y="4742656"/>
            <a:ext cx="11241486" cy="7367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SzTx/>
              <a:buNone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158750"/>
            <a:ext cx="13964218" cy="10477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23193" y="636240"/>
            <a:ext cx="11923614" cy="231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2955478"/>
            <a:ext cx="11923614" cy="6753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7368"/>
            <a:ext cx="376045" cy="388541"/>
          </a:xfrm>
          <a:prstGeom prst="rect">
            <a:avLst/>
          </a:prstGeom>
          <a:ln w="12700">
            <a:miter lim="400000"/>
          </a:ln>
        </p:spPr>
        <p:txBody>
          <a:bodyPr wrap="none" lIns="54570" tIns="54570" rIns="54570" bIns="54570">
            <a:spAutoFit/>
          </a:bodyPr>
          <a:lstStyle>
            <a:lvl1pPr algn="ctr">
              <a:spcBef>
                <a:spcPts val="0"/>
              </a:spcBef>
              <a:defRPr sz="1800" b="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1pPr>
      <a:lvl2pPr marL="0" marR="0" indent="228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2pPr>
      <a:lvl3pPr marL="0" marR="0" indent="457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3pPr>
      <a:lvl4pPr marL="0" marR="0" indent="685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4pPr>
      <a:lvl5pPr marL="0" marR="0" indent="9144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5pPr>
      <a:lvl6pPr marL="0" marR="0" indent="11430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6pPr>
      <a:lvl7pPr marL="0" marR="0" indent="1371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7pPr>
      <a:lvl8pPr marL="0" marR="0" indent="1600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8pPr>
      <a:lvl9pPr marL="0" marR="0" indent="1828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9pPr>
    </p:titleStyle>
    <p:bodyStyle>
      <a:lvl1pPr marL="148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1pPr>
      <a:lvl2pPr marL="592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2pPr>
      <a:lvl3pPr marL="1037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3pPr>
      <a:lvl4pPr marL="1481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4pPr>
      <a:lvl5pPr marL="1926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5pPr>
      <a:lvl6pPr marL="2370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6pPr>
      <a:lvl7pPr marL="2815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7pPr>
      <a:lvl8pPr marL="3259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8pPr>
      <a:lvl9pPr marL="3704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hyperlink" Target="http://fortawesome.github.io/Font-Awesome/cheatshee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hyperlink" Target="https://rstudio.github.io/cheatsheets/data-visualization.pdf" TargetMode="External"/><Relationship Id="rId4" Type="http://schemas.openxmlformats.org/officeDocument/2006/relationships/hyperlink" Target="https://creativecommons.org/licenses/by-sa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105" y="-684523"/>
            <a:ext cx="5603817" cy="2992964"/>
          </a:xfrm>
          <a:prstGeom prst="rect">
            <a:avLst/>
          </a:prstGeom>
          <a:ln w="12700">
            <a:miter lim="400000"/>
          </a:ln>
        </p:spPr>
      </p:pic>
      <p:sp>
        <p:nvSpPr>
          <p:cNvPr id="312" name="Line"/>
          <p:cNvSpPr/>
          <p:nvPr/>
        </p:nvSpPr>
        <p:spPr>
          <a:xfrm>
            <a:off x="241300" y="10337513"/>
            <a:ext cx="13434202" cy="1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14" name="Group"/>
          <p:cNvSpPr/>
          <p:nvPr/>
        </p:nvSpPr>
        <p:spPr>
          <a:xfrm>
            <a:off x="165185" y="1521632"/>
            <a:ext cx="4375182" cy="1790678"/>
          </a:xfrm>
          <a:prstGeom prst="rect">
            <a:avLst/>
          </a:prstGeom>
          <a:solidFill>
            <a:srgbClr val="79B0DC">
              <a:alpha val="23776"/>
            </a:srgbClr>
          </a:solidFill>
          <a:ln w="12700">
            <a:miter lim="400000"/>
          </a:ln>
        </p:spPr>
        <p:txBody>
          <a:bodyPr lIns="54570" tIns="54570" rIns="54570" bIns="54570" anchor="ctr"/>
          <a:lstStyle/>
          <a:p>
            <a:endParaRPr lang="en-GB" b="0" dirty="0"/>
          </a:p>
        </p:txBody>
      </p:sp>
      <p:sp>
        <p:nvSpPr>
          <p:cNvPr id="318" name="Line"/>
          <p:cNvSpPr/>
          <p:nvPr/>
        </p:nvSpPr>
        <p:spPr>
          <a:xfrm>
            <a:off x="9426688" y="1530350"/>
            <a:ext cx="4264736" cy="0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19" name="Basics"/>
          <p:cNvSpPr txBox="1"/>
          <p:nvPr/>
        </p:nvSpPr>
        <p:spPr>
          <a:xfrm>
            <a:off x="306210" y="1513461"/>
            <a:ext cx="873761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dirty="0"/>
              <a:t>Basics</a:t>
            </a:r>
          </a:p>
        </p:txBody>
      </p:sp>
      <p:sp>
        <p:nvSpPr>
          <p:cNvPr id="321" name="Remember that the best cheatsheets are visual—not written—documents. Whenever possible use visual elements to make it easier for readers to find the information they need."/>
          <p:cNvSpPr txBox="1"/>
          <p:nvPr/>
        </p:nvSpPr>
        <p:spPr>
          <a:xfrm>
            <a:off x="311956" y="2551262"/>
            <a:ext cx="4140391" cy="6343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0"/>
              </a:spcBef>
              <a:defRPr b="0">
                <a:solidFill>
                  <a:srgbClr val="000000"/>
                </a:solidFill>
              </a:defRPr>
            </a:pPr>
            <a:r>
              <a:rPr lang="en-GB" dirty="0">
                <a:latin typeface="National-LFSN Semibd" panose="020B0704030502020203" pitchFamily="34" charset="0"/>
              </a:rPr>
              <a:t>ggplot2</a:t>
            </a:r>
            <a:r>
              <a:rPr lang="en-GB" dirty="0">
                <a:latin typeface="National-LFSN Book" panose="020B0504030502020203" pitchFamily="34" charset="0"/>
              </a:rPr>
              <a:t> </a:t>
            </a:r>
            <a:r>
              <a:rPr lang="en-GB" b="0" dirty="0">
                <a:latin typeface="National-LFSN Book" panose="020B0504030502020203" pitchFamily="34" charset="0"/>
              </a:rPr>
              <a:t>is based on the </a:t>
            </a:r>
            <a:r>
              <a:rPr lang="en-GB" dirty="0">
                <a:latin typeface="National-LFSN Book" panose="020B0504030502020203" pitchFamily="34" charset="0"/>
              </a:rPr>
              <a:t>grammar of graphics</a:t>
            </a:r>
            <a:r>
              <a:rPr lang="en-GB" b="0" dirty="0">
                <a:latin typeface="National-LFSN Book" panose="020B0504030502020203" pitchFamily="34" charset="0"/>
              </a:rPr>
              <a:t>, the idea that you can build every graph from the same </a:t>
            </a:r>
            <a:r>
              <a:rPr lang="en-GB" dirty="0">
                <a:latin typeface="National-LFSN Book" panose="020B0504030502020203" pitchFamily="34" charset="0"/>
              </a:rPr>
              <a:t>components</a:t>
            </a:r>
            <a:r>
              <a:rPr lang="en-GB" b="0" dirty="0">
                <a:latin typeface="National-LFSN Book" panose="020B0504030502020203" pitchFamily="34" charset="0"/>
              </a:rPr>
              <a:t>: </a:t>
            </a:r>
            <a:r>
              <a:rPr lang="en-GB" dirty="0">
                <a:latin typeface="National-LFSN Book" panose="020B0504030502020203" pitchFamily="34" charset="0"/>
              </a:rPr>
              <a:t>a </a:t>
            </a:r>
            <a:r>
              <a:rPr lang="en-GB" dirty="0">
                <a:latin typeface="National-LFSN Semibd" panose="020B0704030502020203" pitchFamily="34" charset="0"/>
              </a:rPr>
              <a:t>data</a:t>
            </a:r>
            <a:r>
              <a:rPr lang="en-GB" dirty="0">
                <a:latin typeface="National-LFSN Book" panose="020B0504030502020203" pitchFamily="34" charset="0"/>
              </a:rPr>
              <a:t> </a:t>
            </a:r>
            <a:r>
              <a:rPr lang="en-GB" b="0" dirty="0">
                <a:latin typeface="National-LFSN Book" panose="020B0504030502020203" pitchFamily="34" charset="0"/>
              </a:rPr>
              <a:t>set, a </a:t>
            </a:r>
            <a:r>
              <a:rPr lang="en-GB" dirty="0">
                <a:latin typeface="National-LFSN Semibd" panose="020B0704030502020203" pitchFamily="34" charset="0"/>
              </a:rPr>
              <a:t>coordinate</a:t>
            </a:r>
            <a:r>
              <a:rPr lang="en-GB" dirty="0">
                <a:latin typeface="National-LFSN Book" panose="020B0504030502020203" pitchFamily="34" charset="0"/>
              </a:rPr>
              <a:t> system</a:t>
            </a:r>
            <a:r>
              <a:rPr lang="en-GB" b="0" dirty="0">
                <a:latin typeface="National-LFSN Book" panose="020B0504030502020203" pitchFamily="34" charset="0"/>
              </a:rPr>
              <a:t>, and </a:t>
            </a:r>
            <a:r>
              <a:rPr lang="en-GB" dirty="0" err="1">
                <a:latin typeface="National-LFSN Semibd" panose="020B0704030502020203" pitchFamily="34" charset="0"/>
              </a:rPr>
              <a:t>geoms</a:t>
            </a:r>
            <a:r>
              <a:rPr lang="en-GB" b="0" dirty="0">
                <a:latin typeface="National-LFSN Book" panose="020B0504030502020203" pitchFamily="34" charset="0"/>
              </a:rPr>
              <a:t>—visual marks that represent data points. </a:t>
            </a:r>
            <a:endParaRPr dirty="0">
              <a:latin typeface="National-LFSN Book" panose="020B0504030502020203" pitchFamily="34" charset="0"/>
            </a:endParaRPr>
          </a:p>
        </p:txBody>
      </p:sp>
      <p:sp>
        <p:nvSpPr>
          <p:cNvPr id="322" name="RStudio® is a trademark of RStudio, Inc.  •  CC BY SA Your Name •  your@email.com  •  844-448-1212 • your.website.com •  Learn more at webpage or vignette   •  package version  0.5.0 •  Updated: 2017-01"/>
          <p:cNvSpPr txBox="1"/>
          <p:nvPr/>
        </p:nvSpPr>
        <p:spPr>
          <a:xfrm>
            <a:off x="2353572" y="10347903"/>
            <a:ext cx="11322666" cy="234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4570" tIns="54570" rIns="54570" bIns="5457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defRPr sz="900" b="0">
                <a:solidFill>
                  <a:srgbClr val="000000"/>
                </a:solidFill>
              </a:defRPr>
            </a:pPr>
            <a:r>
              <a:rPr dirty="0"/>
              <a:t>•  </a:t>
            </a:r>
            <a:r>
              <a:rPr dirty="0">
                <a:hlinkClick r:id="rId4"/>
              </a:rPr>
              <a:t>CC BY SA</a:t>
            </a:r>
            <a:r>
              <a:rPr dirty="0"/>
              <a:t> </a:t>
            </a:r>
            <a:r>
              <a:rPr lang="en-GB" dirty="0"/>
              <a:t>Gayle Leen</a:t>
            </a:r>
            <a:r>
              <a:rPr dirty="0"/>
              <a:t> •  </a:t>
            </a:r>
            <a:r>
              <a:rPr lang="en-GB" dirty="0" err="1"/>
              <a:t>leen.gayle</a:t>
            </a:r>
            <a:r>
              <a:rPr dirty="0"/>
              <a:t>@</a:t>
            </a:r>
            <a:r>
              <a:rPr lang="en-GB" dirty="0"/>
              <a:t>parliament</a:t>
            </a:r>
            <a:r>
              <a:rPr dirty="0"/>
              <a:t>.</a:t>
            </a:r>
            <a:r>
              <a:rPr lang="en-GB" dirty="0" err="1"/>
              <a:t>uk</a:t>
            </a:r>
            <a:r>
              <a:rPr dirty="0"/>
              <a:t>  •  Updated: 20</a:t>
            </a:r>
            <a:r>
              <a:rPr lang="en-GB" dirty="0"/>
              <a:t>26</a:t>
            </a:r>
            <a:r>
              <a:rPr dirty="0"/>
              <a:t>-0</a:t>
            </a:r>
            <a:r>
              <a:rPr lang="en-GB" dirty="0"/>
              <a:t>4</a:t>
            </a:r>
            <a:endParaRPr dirty="0"/>
          </a:p>
        </p:txBody>
      </p:sp>
      <p:sp>
        <p:nvSpPr>
          <p:cNvPr id="323" name="Thank you for making a new cheatsheet for R! These cheatsheets have an important job:"/>
          <p:cNvSpPr txBox="1"/>
          <p:nvPr/>
        </p:nvSpPr>
        <p:spPr>
          <a:xfrm>
            <a:off x="323328" y="2070100"/>
            <a:ext cx="4116131" cy="387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rPr lang="en-GB" b="1" dirty="0" err="1">
                <a:latin typeface="National-LFSN Book" panose="020B0504030502020203" pitchFamily="34" charset="0"/>
              </a:rPr>
              <a:t>clcharts</a:t>
            </a:r>
            <a:r>
              <a:rPr lang="en-GB" b="1" dirty="0">
                <a:latin typeface="National-LFSN Book" panose="020B0504030502020203" pitchFamily="34" charset="0"/>
              </a:rPr>
              <a:t> </a:t>
            </a:r>
            <a:r>
              <a:rPr lang="en-GB" b="0" dirty="0">
                <a:latin typeface="National-LFSN Book" panose="020B0504030502020203" pitchFamily="34" charset="0"/>
              </a:rPr>
              <a:t>creates charts in the House of Commons Library style and is based on </a:t>
            </a:r>
            <a:r>
              <a:rPr lang="en-GB" dirty="0">
                <a:latin typeface="National-LFSN Book" panose="020B0504030502020203" pitchFamily="34" charset="0"/>
                <a:hlinkClick r:id="rId5"/>
              </a:rPr>
              <a:t>ggplot2</a:t>
            </a:r>
            <a:r>
              <a:rPr lang="en-GB" dirty="0">
                <a:latin typeface="National-LFSN Book" panose="020B0504030502020203" pitchFamily="34" charset="0"/>
              </a:rPr>
              <a:t>.</a:t>
            </a:r>
            <a:endParaRPr dirty="0">
              <a:latin typeface="National-LFSN Book" panose="020B0504030502020203" pitchFamily="34" charset="0"/>
            </a:endParaRPr>
          </a:p>
        </p:txBody>
      </p:sp>
      <p:sp>
        <p:nvSpPr>
          <p:cNvPr id="325" name="Line"/>
          <p:cNvSpPr/>
          <p:nvPr/>
        </p:nvSpPr>
        <p:spPr>
          <a:xfrm>
            <a:off x="9435669" y="2046199"/>
            <a:ext cx="4062993" cy="1"/>
          </a:xfrm>
          <a:prstGeom prst="line">
            <a:avLst/>
          </a:prstGeom>
          <a:ln w="12700">
            <a:solidFill>
              <a:srgbClr val="E0E0E0"/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26" name="Manipulate Variables"/>
          <p:cNvSpPr txBox="1"/>
          <p:nvPr/>
        </p:nvSpPr>
        <p:spPr>
          <a:xfrm>
            <a:off x="9426688" y="1537907"/>
            <a:ext cx="2013372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dirty="0"/>
              <a:t>Theme colours</a:t>
            </a:r>
            <a:endParaRPr dirty="0"/>
          </a:p>
        </p:txBody>
      </p:sp>
      <p:sp>
        <p:nvSpPr>
          <p:cNvPr id="330" name="Line"/>
          <p:cNvSpPr/>
          <p:nvPr/>
        </p:nvSpPr>
        <p:spPr>
          <a:xfrm>
            <a:off x="323328" y="1534139"/>
            <a:ext cx="4140391" cy="1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34" name="Three Column Layout: : CHEAT SHEET"/>
          <p:cNvSpPr txBox="1">
            <a:spLocks noGrp="1"/>
          </p:cNvSpPr>
          <p:nvPr>
            <p:ph type="title"/>
          </p:nvPr>
        </p:nvSpPr>
        <p:spPr>
          <a:xfrm>
            <a:off x="275721" y="361177"/>
            <a:ext cx="10898129" cy="803346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n-GB" sz="4400" dirty="0"/>
              <a:t>Data visualisation with </a:t>
            </a:r>
            <a:r>
              <a:rPr lang="en-GB" sz="4400" dirty="0" err="1"/>
              <a:t>clcharts</a:t>
            </a:r>
            <a:r>
              <a:rPr dirty="0"/>
              <a:t>: : </a:t>
            </a:r>
            <a:r>
              <a:rPr sz="3300" dirty="0">
                <a:latin typeface="Source Sans Pro Semibold"/>
                <a:ea typeface="Source Sans Pro Semibold"/>
                <a:cs typeface="Source Sans Pro Semibold"/>
                <a:sym typeface="Source Sans Pro Semibold"/>
              </a:rPr>
              <a:t>CHEAT SHEET</a:t>
            </a:r>
            <a:r>
              <a:rPr dirty="0"/>
              <a:t> </a:t>
            </a:r>
          </a:p>
        </p:txBody>
      </p:sp>
      <p:sp>
        <p:nvSpPr>
          <p:cNvPr id="340" name="Line"/>
          <p:cNvSpPr/>
          <p:nvPr/>
        </p:nvSpPr>
        <p:spPr>
          <a:xfrm>
            <a:off x="4814439" y="1530350"/>
            <a:ext cx="7110861" cy="0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359" name="Line"/>
          <p:cNvSpPr/>
          <p:nvPr/>
        </p:nvSpPr>
        <p:spPr>
          <a:xfrm>
            <a:off x="9377743" y="3892778"/>
            <a:ext cx="4296975" cy="1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r>
              <a:rPr lang="en-GB" sz="1100" dirty="0"/>
              <a:t>Get theme colours by: </a:t>
            </a:r>
            <a:r>
              <a:rPr lang="en-GB" sz="1100" dirty="0" err="1"/>
              <a:t>commonslib_color</a:t>
            </a:r>
            <a:r>
              <a:rPr lang="en-GB" sz="1100" dirty="0"/>
              <a:t>(&lt;</a:t>
            </a:r>
            <a:r>
              <a:rPr lang="en-GB" sz="1100" dirty="0" err="1"/>
              <a:t>color_name</a:t>
            </a:r>
            <a:r>
              <a:rPr lang="en-GB" sz="1100" dirty="0"/>
              <a:t>&gt;).</a:t>
            </a:r>
          </a:p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r>
              <a:rPr lang="en-GB" sz="1100" dirty="0"/>
              <a:t>Get political party colours from </a:t>
            </a:r>
            <a:r>
              <a:rPr lang="en-GB" sz="1100" b="0" dirty="0" err="1"/>
              <a:t>commonslib_party_color</a:t>
            </a:r>
            <a:r>
              <a:rPr lang="en-GB" sz="1100" b="0" dirty="0"/>
              <a:t>(&lt;</a:t>
            </a:r>
            <a:r>
              <a:rPr lang="en-GB" sz="1100" b="0" dirty="0" err="1"/>
              <a:t>party_name</a:t>
            </a:r>
            <a:r>
              <a:rPr lang="en-GB" sz="1100" b="0" dirty="0"/>
              <a:t>&gt;)</a:t>
            </a:r>
            <a:r>
              <a:rPr lang="en-GB" sz="1100" dirty="0"/>
              <a:t> </a:t>
            </a:r>
          </a:p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362" name="Select multiple elements by holding down shift and then selecting each. Click on a selected element before letting go of shift to unselect it.…"/>
          <p:cNvSpPr txBox="1"/>
          <p:nvPr/>
        </p:nvSpPr>
        <p:spPr>
          <a:xfrm>
            <a:off x="4787900" y="9010624"/>
            <a:ext cx="4154098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4570" tIns="54570" rIns="54570" bIns="54570" anchor="ctr">
            <a:spAutoFit/>
          </a:bodyPr>
          <a:lstStyle/>
          <a:p>
            <a:pPr marL="114300" indent="-114300">
              <a:lnSpc>
                <a:spcPct val="90000"/>
              </a:lnSpc>
              <a:spcBef>
                <a:spcPts val="500"/>
              </a:spcBef>
              <a:buSzPct val="100000"/>
              <a:buChar char="•"/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D9FA49-116B-1461-6B09-987D116EBFEF}"/>
              </a:ext>
            </a:extLst>
          </p:cNvPr>
          <p:cNvSpPr txBox="1"/>
          <p:nvPr/>
        </p:nvSpPr>
        <p:spPr>
          <a:xfrm>
            <a:off x="1897816" y="7345366"/>
            <a:ext cx="270640" cy="478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267C1B30-AA97-A18E-49D4-8AF626FEC739}"/>
              </a:ext>
            </a:extLst>
          </p:cNvPr>
          <p:cNvGrpSpPr/>
          <p:nvPr/>
        </p:nvGrpSpPr>
        <p:grpSpPr>
          <a:xfrm>
            <a:off x="9435669" y="1813307"/>
            <a:ext cx="2406590" cy="1413713"/>
            <a:chOff x="9536868" y="2236471"/>
            <a:chExt cx="2406590" cy="141371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5EB230-EFFF-1249-8CF4-A99A1C4FA9FC}"/>
                </a:ext>
              </a:extLst>
            </p:cNvPr>
            <p:cNvSpPr/>
            <p:nvPr/>
          </p:nvSpPr>
          <p:spPr>
            <a:xfrm>
              <a:off x="9536868" y="2319402"/>
              <a:ext cx="180000" cy="180000"/>
            </a:xfrm>
            <a:prstGeom prst="rect">
              <a:avLst/>
            </a:prstGeom>
            <a:solidFill>
              <a:srgbClr val="006548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28564F-7DB3-4EA7-DDB1-4DFAC6284410}"/>
                </a:ext>
              </a:extLst>
            </p:cNvPr>
            <p:cNvSpPr txBox="1"/>
            <p:nvPr/>
          </p:nvSpPr>
          <p:spPr>
            <a:xfrm>
              <a:off x="9716868" y="2236471"/>
              <a:ext cx="1011093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 err="1">
                  <a:latin typeface="National-LFSN Book" panose="020B0504030502020203" pitchFamily="34" charset="0"/>
                </a:rPr>
                <a:t>c</a:t>
              </a: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ommons_green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6B4B732-38C9-E589-0DAF-58F9CB569376}"/>
                </a:ext>
              </a:extLst>
            </p:cNvPr>
            <p:cNvSpPr/>
            <p:nvPr/>
          </p:nvSpPr>
          <p:spPr>
            <a:xfrm>
              <a:off x="9539094" y="2595911"/>
              <a:ext cx="180000" cy="180000"/>
            </a:xfrm>
            <a:prstGeom prst="rect">
              <a:avLst/>
            </a:prstGeom>
            <a:solidFill>
              <a:srgbClr val="3F9D8A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311D3B2-D339-2C99-1059-AE1E073ECFBD}"/>
                </a:ext>
              </a:extLst>
            </p:cNvPr>
            <p:cNvSpPr txBox="1"/>
            <p:nvPr/>
          </p:nvSpPr>
          <p:spPr>
            <a:xfrm>
              <a:off x="9719094" y="2512980"/>
              <a:ext cx="820337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ocean_green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6C871C0-B72E-56B1-0F7C-D32022973D58}"/>
                </a:ext>
              </a:extLst>
            </p:cNvPr>
            <p:cNvSpPr/>
            <p:nvPr/>
          </p:nvSpPr>
          <p:spPr>
            <a:xfrm>
              <a:off x="9539094" y="2861960"/>
              <a:ext cx="180000" cy="180000"/>
            </a:xfrm>
            <a:prstGeom prst="rect">
              <a:avLst/>
            </a:prstGeom>
            <a:solidFill>
              <a:srgbClr val="003F2B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5608956-0B37-9D43-C5CF-1D7D71615EBE}"/>
                </a:ext>
              </a:extLst>
            </p:cNvPr>
            <p:cNvSpPr txBox="1"/>
            <p:nvPr/>
          </p:nvSpPr>
          <p:spPr>
            <a:xfrm>
              <a:off x="9719094" y="2779029"/>
              <a:ext cx="724156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pine_green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BF7F888-15BE-F0C9-5E95-9E8BAB800155}"/>
                </a:ext>
              </a:extLst>
            </p:cNvPr>
            <p:cNvSpPr/>
            <p:nvPr/>
          </p:nvSpPr>
          <p:spPr>
            <a:xfrm>
              <a:off x="9536868" y="3159231"/>
              <a:ext cx="180000" cy="180000"/>
            </a:xfrm>
            <a:prstGeom prst="rect">
              <a:avLst/>
            </a:prstGeom>
            <a:solidFill>
              <a:srgbClr val="682F7F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C9918-2461-7003-907C-6C1A8E7CB486}"/>
                </a:ext>
              </a:extLst>
            </p:cNvPr>
            <p:cNvSpPr txBox="1"/>
            <p:nvPr/>
          </p:nvSpPr>
          <p:spPr>
            <a:xfrm>
              <a:off x="9716868" y="3076300"/>
              <a:ext cx="434012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GB" sz="1000" b="1" i="0" u="none" strike="noStrike" cap="none" spc="0" normalizeH="0" baseline="0" dirty="0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grape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83BFA74-3E76-D396-FC47-8554482BB08D}"/>
                </a:ext>
              </a:extLst>
            </p:cNvPr>
            <p:cNvSpPr/>
            <p:nvPr/>
          </p:nvSpPr>
          <p:spPr>
            <a:xfrm>
              <a:off x="9539621" y="3443373"/>
              <a:ext cx="180000" cy="180000"/>
            </a:xfrm>
            <a:prstGeom prst="rect">
              <a:avLst/>
            </a:prstGeom>
            <a:solidFill>
              <a:srgbClr val="A37EC8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4BF04EC-ACA2-0E5E-E7E5-120ACEC71E0E}"/>
                </a:ext>
              </a:extLst>
            </p:cNvPr>
            <p:cNvSpPr txBox="1"/>
            <p:nvPr/>
          </p:nvSpPr>
          <p:spPr>
            <a:xfrm>
              <a:off x="9725971" y="3360442"/>
              <a:ext cx="344244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GB" sz="1000" b="1" i="0" u="none" strike="noStrike" cap="none" spc="0" normalizeH="0" baseline="0" dirty="0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lilac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347254A-4120-6860-AF59-2704540B7CDA}"/>
                </a:ext>
              </a:extLst>
            </p:cNvPr>
            <p:cNvSpPr/>
            <p:nvPr/>
          </p:nvSpPr>
          <p:spPr>
            <a:xfrm>
              <a:off x="10870363" y="2319402"/>
              <a:ext cx="180000" cy="180000"/>
            </a:xfrm>
            <a:prstGeom prst="rect">
              <a:avLst/>
            </a:prstGeom>
            <a:solidFill>
              <a:srgbClr val="E09F0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55C7BA-69B8-4355-A5FC-FFE437471EED}"/>
                </a:ext>
              </a:extLst>
            </p:cNvPr>
            <p:cNvSpPr txBox="1"/>
            <p:nvPr/>
          </p:nvSpPr>
          <p:spPr>
            <a:xfrm>
              <a:off x="11050363" y="2236471"/>
              <a:ext cx="639197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>
                  <a:latin typeface="National-LFSN Book" panose="020B0504030502020203" pitchFamily="34" charset="0"/>
                </a:rPr>
                <a:t>tangerine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ED1013B-214C-9604-C5B2-D26ABBDC7EA6}"/>
                </a:ext>
              </a:extLst>
            </p:cNvPr>
            <p:cNvSpPr/>
            <p:nvPr/>
          </p:nvSpPr>
          <p:spPr>
            <a:xfrm>
              <a:off x="10872589" y="2595911"/>
              <a:ext cx="180000" cy="180000"/>
            </a:xfrm>
            <a:prstGeom prst="rect">
              <a:avLst/>
            </a:prstGeom>
            <a:solidFill>
              <a:srgbClr val="306298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D9C05D7-B274-675E-0FE2-49768A6DFB02}"/>
                </a:ext>
              </a:extLst>
            </p:cNvPr>
            <p:cNvSpPr txBox="1"/>
            <p:nvPr/>
          </p:nvSpPr>
          <p:spPr>
            <a:xfrm>
              <a:off x="11052589" y="2512980"/>
              <a:ext cx="890869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 err="1">
                  <a:latin typeface="National-LFSN Book" panose="020B0504030502020203" pitchFamily="34" charset="0"/>
                </a:rPr>
                <a:t>c</a:t>
              </a: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erulean_blue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237871C-43B7-637B-2215-66E056058FBF}"/>
                </a:ext>
              </a:extLst>
            </p:cNvPr>
            <p:cNvSpPr/>
            <p:nvPr/>
          </p:nvSpPr>
          <p:spPr>
            <a:xfrm>
              <a:off x="10872589" y="2861960"/>
              <a:ext cx="180000" cy="180000"/>
            </a:xfrm>
            <a:prstGeom prst="rect">
              <a:avLst/>
            </a:prstGeom>
            <a:solidFill>
              <a:srgbClr val="00A1CC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992128E-DF0F-E62F-BC35-6ADFB260A2E9}"/>
                </a:ext>
              </a:extLst>
            </p:cNvPr>
            <p:cNvSpPr txBox="1"/>
            <p:nvPr/>
          </p:nvSpPr>
          <p:spPr>
            <a:xfrm>
              <a:off x="11052589" y="2779029"/>
              <a:ext cx="778659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 err="1">
                  <a:latin typeface="National-LFSN Book" panose="020B0504030502020203" pitchFamily="34" charset="0"/>
                </a:rPr>
                <a:t>p</a:t>
              </a: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acific_blue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FF434E6B-745D-06A5-21A8-ECDCE4471774}"/>
                </a:ext>
              </a:extLst>
            </p:cNvPr>
            <p:cNvSpPr/>
            <p:nvPr/>
          </p:nvSpPr>
          <p:spPr>
            <a:xfrm>
              <a:off x="10870363" y="3159231"/>
              <a:ext cx="180000" cy="180000"/>
            </a:xfrm>
            <a:prstGeom prst="rect">
              <a:avLst/>
            </a:prstGeom>
            <a:solidFill>
              <a:srgbClr val="C23F18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CCF87B31-DDC9-D878-4C4D-E97DB42A17A5}"/>
                </a:ext>
              </a:extLst>
            </p:cNvPr>
            <p:cNvSpPr txBox="1"/>
            <p:nvPr/>
          </p:nvSpPr>
          <p:spPr>
            <a:xfrm>
              <a:off x="11050363" y="3076300"/>
              <a:ext cx="862015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 err="1">
                  <a:latin typeface="National-LFSN Book" panose="020B0504030502020203" pitchFamily="34" charset="0"/>
                </a:rPr>
                <a:t>b</a:t>
              </a:r>
              <a:r>
                <a:rPr kumimoji="0" lang="en-GB" sz="1000" b="1" i="0" u="none" strike="noStrike" cap="none" spc="0" normalizeH="0" baseline="0" dirty="0" err="1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rPr>
                <a:t>urnt_orange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2DA67C00-B322-C36F-3F0D-E5D8CFC774CF}"/>
                </a:ext>
              </a:extLst>
            </p:cNvPr>
            <p:cNvSpPr/>
            <p:nvPr/>
          </p:nvSpPr>
          <p:spPr>
            <a:xfrm>
              <a:off x="10873116" y="3443373"/>
              <a:ext cx="180000" cy="180000"/>
            </a:xfrm>
            <a:prstGeom prst="rect">
              <a:avLst/>
            </a:prstGeom>
            <a:solidFill>
              <a:srgbClr val="800F1B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452" name="TextBox 451">
              <a:extLst>
                <a:ext uri="{FF2B5EF4-FFF2-40B4-BE49-F238E27FC236}">
                  <a16:creationId xmlns:a16="http://schemas.microsoft.com/office/drawing/2014/main" id="{1D016A55-929C-9892-A626-BAA1E7B311EE}"/>
                </a:ext>
              </a:extLst>
            </p:cNvPr>
            <p:cNvSpPr txBox="1"/>
            <p:nvPr/>
          </p:nvSpPr>
          <p:spPr>
            <a:xfrm>
              <a:off x="11059466" y="3360442"/>
              <a:ext cx="456454" cy="2897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en-GB" sz="1000" dirty="0">
                  <a:latin typeface="National-LFSN Book" panose="020B0504030502020203" pitchFamily="34" charset="0"/>
                </a:rPr>
                <a:t>cherry</a:t>
              </a:r>
              <a:endParaRPr kumimoji="0" lang="en-GB" sz="10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National-LFSN Book" panose="020B0504030502020203" pitchFamily="34" charset="0"/>
                <a:sym typeface="Source Sans Pro"/>
              </a:endParaRPr>
            </a:p>
          </p:txBody>
        </p:sp>
      </p:grpSp>
      <p:sp>
        <p:nvSpPr>
          <p:cNvPr id="455" name="Useful Elements">
            <a:extLst>
              <a:ext uri="{FF2B5EF4-FFF2-40B4-BE49-F238E27FC236}">
                <a16:creationId xmlns:a16="http://schemas.microsoft.com/office/drawing/2014/main" id="{6C58C636-CC72-AF1D-5414-663F533128F1}"/>
              </a:ext>
            </a:extLst>
          </p:cNvPr>
          <p:cNvSpPr txBox="1"/>
          <p:nvPr/>
        </p:nvSpPr>
        <p:spPr>
          <a:xfrm>
            <a:off x="4780778" y="7231748"/>
            <a:ext cx="3258905" cy="8675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endParaRPr lang="en-GB" dirty="0"/>
          </a:p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endParaRPr lang="en-GB" dirty="0"/>
          </a:p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sz="1800" dirty="0"/>
              <a:t>Chart adjustment and annotation</a:t>
            </a:r>
            <a:endParaRPr sz="1800" dirty="0"/>
          </a:p>
        </p:txBody>
      </p:sp>
      <p:sp>
        <p:nvSpPr>
          <p:cNvPr id="458" name="Manipulate Variables">
            <a:extLst>
              <a:ext uri="{FF2B5EF4-FFF2-40B4-BE49-F238E27FC236}">
                <a16:creationId xmlns:a16="http://schemas.microsoft.com/office/drawing/2014/main" id="{DA97D1CD-51DE-34C9-C268-364347D299B6}"/>
              </a:ext>
            </a:extLst>
          </p:cNvPr>
          <p:cNvSpPr txBox="1"/>
          <p:nvPr/>
        </p:nvSpPr>
        <p:spPr>
          <a:xfrm>
            <a:off x="9426688" y="4092096"/>
            <a:ext cx="1120500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dirty="0"/>
              <a:t>Palettes</a:t>
            </a:r>
            <a:endParaRPr dirty="0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8A6FFF2-3765-1776-1F61-517DC0F5EBD3}"/>
              </a:ext>
            </a:extLst>
          </p:cNvPr>
          <p:cNvGrpSpPr/>
          <p:nvPr/>
        </p:nvGrpSpPr>
        <p:grpSpPr>
          <a:xfrm>
            <a:off x="9341072" y="4675691"/>
            <a:ext cx="2702384" cy="1977786"/>
            <a:chOff x="8907128" y="6433809"/>
            <a:chExt cx="2702384" cy="1977786"/>
          </a:xfrm>
        </p:grpSpPr>
        <p:sp>
          <p:nvSpPr>
            <p:cNvPr id="383" name="Useful Elements"/>
            <p:cNvSpPr txBox="1"/>
            <p:nvPr/>
          </p:nvSpPr>
          <p:spPr>
            <a:xfrm>
              <a:off x="9880386" y="8071566"/>
              <a:ext cx="25713" cy="34002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12700" tIns="12700" rIns="12700" bIns="12700" anchor="ctr">
              <a:spAutoFit/>
            </a:bodyPr>
            <a:lstStyle/>
            <a:p>
              <a:pPr lvl="1" indent="0">
                <a:lnSpc>
                  <a:spcPct val="80000"/>
                </a:lnSpc>
                <a:spcBef>
                  <a:spcPts val="0"/>
                </a:spcBef>
                <a:defRPr sz="2500" b="0">
                  <a:solidFill>
                    <a:srgbClr val="628DB5"/>
                  </a:solidFill>
                </a:defRPr>
              </a:pPr>
              <a:endParaRPr dirty="0"/>
            </a:p>
          </p:txBody>
        </p:sp>
        <p:grpSp>
          <p:nvGrpSpPr>
            <p:cNvPr id="459" name="Group 458">
              <a:extLst>
                <a:ext uri="{FF2B5EF4-FFF2-40B4-BE49-F238E27FC236}">
                  <a16:creationId xmlns:a16="http://schemas.microsoft.com/office/drawing/2014/main" id="{4002113F-DF6E-AF50-3E8A-B8DB8BE6A83A}"/>
                </a:ext>
              </a:extLst>
            </p:cNvPr>
            <p:cNvGrpSpPr/>
            <p:nvPr/>
          </p:nvGrpSpPr>
          <p:grpSpPr>
            <a:xfrm>
              <a:off x="8907128" y="6433809"/>
              <a:ext cx="2702384" cy="1124005"/>
              <a:chOff x="9008327" y="4176352"/>
              <a:chExt cx="2702384" cy="1124005"/>
            </a:xfrm>
          </p:grpSpPr>
          <p:sp>
            <p:nvSpPr>
              <p:cNvPr id="467" name="TextBox 466">
                <a:extLst>
                  <a:ext uri="{FF2B5EF4-FFF2-40B4-BE49-F238E27FC236}">
                    <a16:creationId xmlns:a16="http://schemas.microsoft.com/office/drawing/2014/main" id="{EAEF9BE3-6A12-6EF1-B913-623E0AA40594}"/>
                  </a:ext>
                </a:extLst>
              </p:cNvPr>
              <p:cNvSpPr txBox="1"/>
              <p:nvPr/>
            </p:nvSpPr>
            <p:spPr>
              <a:xfrm>
                <a:off x="9008981" y="4176352"/>
                <a:ext cx="381114" cy="28974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sz="1000" b="1" i="0" u="none" strike="noStrike" cap="none" spc="0" normalizeH="0" baseline="0" dirty="0">
                    <a:ln>
                      <a:noFill/>
                    </a:ln>
                    <a:solidFill>
                      <a:srgbClr val="4C4C4C"/>
                    </a:solidFill>
                    <a:effectLst/>
                    <a:uFillTx/>
                    <a:latin typeface="National-LFSN Book" panose="020B0504030502020203" pitchFamily="34" charset="0"/>
                    <a:sym typeface="Source Sans Pro"/>
                  </a:rPr>
                  <a:t>main</a:t>
                </a:r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7FE849CA-C93E-AF02-E749-BBD4AF2A0660}"/>
                  </a:ext>
                </a:extLst>
              </p:cNvPr>
              <p:cNvSpPr/>
              <p:nvPr/>
            </p:nvSpPr>
            <p:spPr>
              <a:xfrm>
                <a:off x="10988445" y="4481381"/>
                <a:ext cx="180000" cy="180000"/>
              </a:xfrm>
              <a:prstGeom prst="rect">
                <a:avLst/>
              </a:prstGeom>
              <a:solidFill>
                <a:srgbClr val="30629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455998F2-5979-2658-F89D-D2F18F03D4A0}"/>
                  </a:ext>
                </a:extLst>
              </p:cNvPr>
              <p:cNvSpPr/>
              <p:nvPr/>
            </p:nvSpPr>
            <p:spPr>
              <a:xfrm>
                <a:off x="11170711" y="4481119"/>
                <a:ext cx="180000" cy="180000"/>
              </a:xfrm>
              <a:prstGeom prst="rect">
                <a:avLst/>
              </a:prstGeom>
              <a:solidFill>
                <a:srgbClr val="00A1CC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55F17186-93D3-E90B-D640-9CF619426498}"/>
                  </a:ext>
                </a:extLst>
              </p:cNvPr>
              <p:cNvSpPr/>
              <p:nvPr/>
            </p:nvSpPr>
            <p:spPr>
              <a:xfrm>
                <a:off x="11350711" y="4481119"/>
                <a:ext cx="180000" cy="180000"/>
              </a:xfrm>
              <a:prstGeom prst="rect">
                <a:avLst/>
              </a:prstGeom>
              <a:solidFill>
                <a:srgbClr val="C23F1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73218C69-F90A-55F8-7FDC-F489AE9858EB}"/>
                  </a:ext>
                </a:extLst>
              </p:cNvPr>
              <p:cNvSpPr/>
              <p:nvPr/>
            </p:nvSpPr>
            <p:spPr>
              <a:xfrm>
                <a:off x="11530711" y="4481119"/>
                <a:ext cx="180000" cy="180000"/>
              </a:xfrm>
              <a:prstGeom prst="rect">
                <a:avLst/>
              </a:prstGeom>
              <a:solidFill>
                <a:srgbClr val="800F1B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B4B631A8-4E91-ED52-9974-10486A18FCF2}"/>
                  </a:ext>
                </a:extLst>
              </p:cNvPr>
              <p:cNvSpPr txBox="1"/>
              <p:nvPr/>
            </p:nvSpPr>
            <p:spPr>
              <a:xfrm>
                <a:off x="9008327" y="4447103"/>
                <a:ext cx="251270" cy="28974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sz="1000" b="1" i="0" u="none" strike="noStrike" cap="none" spc="0" normalizeH="0" baseline="0" dirty="0">
                    <a:ln>
                      <a:noFill/>
                    </a:ln>
                    <a:solidFill>
                      <a:srgbClr val="4C4C4C"/>
                    </a:solidFill>
                    <a:effectLst/>
                    <a:uFillTx/>
                    <a:latin typeface="National-LFSN Book" panose="020B0504030502020203" pitchFamily="34" charset="0"/>
                    <a:sym typeface="Source Sans Pro"/>
                  </a:rPr>
                  <a:t>all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335D5ABF-71F9-0263-67E2-87BB4CB9DF57}"/>
                  </a:ext>
                </a:extLst>
              </p:cNvPr>
              <p:cNvSpPr txBox="1"/>
              <p:nvPr/>
            </p:nvSpPr>
            <p:spPr>
              <a:xfrm>
                <a:off x="9013115" y="4736845"/>
                <a:ext cx="424394" cy="28974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sz="1000" b="1" i="0" u="none" strike="noStrike" cap="none" spc="0" normalizeH="0" baseline="0" dirty="0">
                    <a:ln>
                      <a:noFill/>
                    </a:ln>
                    <a:solidFill>
                      <a:srgbClr val="4C4C4C"/>
                    </a:solidFill>
                    <a:effectLst/>
                    <a:uFillTx/>
                    <a:latin typeface="National-LFSN Book" panose="020B0504030502020203" pitchFamily="34" charset="0"/>
                    <a:sym typeface="Source Sans Pro"/>
                  </a:rPr>
                  <a:t>green</a:t>
                </a: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CC37E15-A7A5-DBCB-E303-9D81CE5CB39F}"/>
                  </a:ext>
                </a:extLst>
              </p:cNvPr>
              <p:cNvSpPr txBox="1"/>
              <p:nvPr/>
            </p:nvSpPr>
            <p:spPr>
              <a:xfrm>
                <a:off x="9008327" y="5010615"/>
                <a:ext cx="780261" cy="28974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GB" sz="1000" b="1" i="0" u="none" strike="noStrike" cap="none" spc="0" normalizeH="0" baseline="0" dirty="0" err="1">
                    <a:ln>
                      <a:noFill/>
                    </a:ln>
                    <a:solidFill>
                      <a:srgbClr val="4C4C4C"/>
                    </a:solidFill>
                    <a:effectLst/>
                    <a:uFillTx/>
                    <a:latin typeface="National-LFSN Book" panose="020B0504030502020203" pitchFamily="34" charset="0"/>
                    <a:sym typeface="Source Sans Pro"/>
                  </a:rPr>
                  <a:t>greenpurple</a:t>
                </a:r>
                <a:endParaRPr kumimoji="0" lang="en-GB" sz="1000" b="1" i="0" u="none" strike="noStrike" cap="none" spc="0" normalizeH="0" baseline="0" dirty="0">
                  <a:ln>
                    <a:noFill/>
                  </a:ln>
                  <a:solidFill>
                    <a:srgbClr val="4C4C4C"/>
                  </a:solidFill>
                  <a:effectLst/>
                  <a:uFillTx/>
                  <a:latin typeface="National-LFSN Book" panose="020B0504030502020203" pitchFamily="34" charset="0"/>
                  <a:sym typeface="Source Sans Pro"/>
                </a:endParaRPr>
              </a:p>
            </p:txBody>
          </p:sp>
        </p:grpSp>
        <p:grpSp>
          <p:nvGrpSpPr>
            <p:cNvPr id="486" name="Group 485">
              <a:extLst>
                <a:ext uri="{FF2B5EF4-FFF2-40B4-BE49-F238E27FC236}">
                  <a16:creationId xmlns:a16="http://schemas.microsoft.com/office/drawing/2014/main" id="{0204AE23-8386-F1A7-7304-AB758AEA7420}"/>
                </a:ext>
              </a:extLst>
            </p:cNvPr>
            <p:cNvGrpSpPr/>
            <p:nvPr/>
          </p:nvGrpSpPr>
          <p:grpSpPr>
            <a:xfrm>
              <a:off x="9806938" y="6459026"/>
              <a:ext cx="1081159" cy="180000"/>
              <a:chOff x="9806938" y="6463789"/>
              <a:chExt cx="1081159" cy="180000"/>
            </a:xfrm>
          </p:grpSpPr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38D796B7-FC8F-1BA9-4D32-2A33075E4173}"/>
                  </a:ext>
                </a:extLst>
              </p:cNvPr>
              <p:cNvSpPr/>
              <p:nvPr/>
            </p:nvSpPr>
            <p:spPr>
              <a:xfrm>
                <a:off x="9806938" y="6463789"/>
                <a:ext cx="180000" cy="180000"/>
              </a:xfrm>
              <a:prstGeom prst="rect">
                <a:avLst/>
              </a:prstGeom>
              <a:solidFill>
                <a:srgbClr val="00654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898361DF-1374-5CC8-2BB6-67AEA8B31EAF}"/>
                  </a:ext>
                </a:extLst>
              </p:cNvPr>
              <p:cNvSpPr/>
              <p:nvPr/>
            </p:nvSpPr>
            <p:spPr>
              <a:xfrm>
                <a:off x="9987762" y="6463789"/>
                <a:ext cx="180000" cy="180000"/>
              </a:xfrm>
              <a:prstGeom prst="rect">
                <a:avLst/>
              </a:prstGeom>
              <a:solidFill>
                <a:srgbClr val="3F9D8A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12A048DF-9322-D39E-197D-1D572F2200C3}"/>
                  </a:ext>
                </a:extLst>
              </p:cNvPr>
              <p:cNvSpPr/>
              <p:nvPr/>
            </p:nvSpPr>
            <p:spPr>
              <a:xfrm>
                <a:off x="10168588" y="6463789"/>
                <a:ext cx="180000" cy="180000"/>
              </a:xfrm>
              <a:prstGeom prst="rect">
                <a:avLst/>
              </a:prstGeom>
              <a:solidFill>
                <a:srgbClr val="003F2B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E7703EC8-D33F-97A8-1858-9B4A96E8512C}"/>
                  </a:ext>
                </a:extLst>
              </p:cNvPr>
              <p:cNvSpPr/>
              <p:nvPr/>
            </p:nvSpPr>
            <p:spPr>
              <a:xfrm>
                <a:off x="10346912" y="6463789"/>
                <a:ext cx="180000" cy="180000"/>
              </a:xfrm>
              <a:prstGeom prst="rect">
                <a:avLst/>
              </a:prstGeom>
              <a:solidFill>
                <a:srgbClr val="682F7F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1C7117BD-30B6-7F5B-7772-75FA634A9BA6}"/>
                  </a:ext>
                </a:extLst>
              </p:cNvPr>
              <p:cNvSpPr/>
              <p:nvPr/>
            </p:nvSpPr>
            <p:spPr>
              <a:xfrm>
                <a:off x="10525240" y="6463789"/>
                <a:ext cx="180000" cy="180000"/>
              </a:xfrm>
              <a:prstGeom prst="rect">
                <a:avLst/>
              </a:prstGeom>
              <a:solidFill>
                <a:srgbClr val="A37EC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410D9AFC-BF63-37FE-C10A-BAF957BD26C9}"/>
                  </a:ext>
                </a:extLst>
              </p:cNvPr>
              <p:cNvSpPr/>
              <p:nvPr/>
            </p:nvSpPr>
            <p:spPr>
              <a:xfrm>
                <a:off x="10708097" y="6463789"/>
                <a:ext cx="180000" cy="180000"/>
              </a:xfrm>
              <a:prstGeom prst="rect">
                <a:avLst/>
              </a:prstGeom>
              <a:solidFill>
                <a:srgbClr val="E09F00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</p:grpSp>
        <p:grpSp>
          <p:nvGrpSpPr>
            <p:cNvPr id="498" name="Group 497">
              <a:extLst>
                <a:ext uri="{FF2B5EF4-FFF2-40B4-BE49-F238E27FC236}">
                  <a16:creationId xmlns:a16="http://schemas.microsoft.com/office/drawing/2014/main" id="{CA78E39C-890C-EC2F-E867-0FDEEB104DF0}"/>
                </a:ext>
              </a:extLst>
            </p:cNvPr>
            <p:cNvGrpSpPr/>
            <p:nvPr/>
          </p:nvGrpSpPr>
          <p:grpSpPr>
            <a:xfrm>
              <a:off x="9806681" y="6738838"/>
              <a:ext cx="1081159" cy="180000"/>
              <a:chOff x="9806938" y="6463789"/>
              <a:chExt cx="1081159" cy="180000"/>
            </a:xfrm>
          </p:grpSpPr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E62C3701-2FBC-BC7F-DC99-E48D25590105}"/>
                  </a:ext>
                </a:extLst>
              </p:cNvPr>
              <p:cNvSpPr/>
              <p:nvPr/>
            </p:nvSpPr>
            <p:spPr>
              <a:xfrm>
                <a:off x="9806938" y="6463789"/>
                <a:ext cx="180000" cy="180000"/>
              </a:xfrm>
              <a:prstGeom prst="rect">
                <a:avLst/>
              </a:prstGeom>
              <a:solidFill>
                <a:srgbClr val="00654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C1670E9E-89F3-0E5C-6636-9BC4C0DA2CC5}"/>
                  </a:ext>
                </a:extLst>
              </p:cNvPr>
              <p:cNvSpPr/>
              <p:nvPr/>
            </p:nvSpPr>
            <p:spPr>
              <a:xfrm>
                <a:off x="9987762" y="6463789"/>
                <a:ext cx="180000" cy="180000"/>
              </a:xfrm>
              <a:prstGeom prst="rect">
                <a:avLst/>
              </a:prstGeom>
              <a:solidFill>
                <a:srgbClr val="3F9D8A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2BA80669-EDE6-265E-91F6-51393209ED0D}"/>
                  </a:ext>
                </a:extLst>
              </p:cNvPr>
              <p:cNvSpPr/>
              <p:nvPr/>
            </p:nvSpPr>
            <p:spPr>
              <a:xfrm>
                <a:off x="10168588" y="6463789"/>
                <a:ext cx="180000" cy="180000"/>
              </a:xfrm>
              <a:prstGeom prst="rect">
                <a:avLst/>
              </a:prstGeom>
              <a:solidFill>
                <a:srgbClr val="003F2B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F92E0837-2522-55C3-A967-E4A4252D994E}"/>
                  </a:ext>
                </a:extLst>
              </p:cNvPr>
              <p:cNvSpPr/>
              <p:nvPr/>
            </p:nvSpPr>
            <p:spPr>
              <a:xfrm>
                <a:off x="10346912" y="6463789"/>
                <a:ext cx="180000" cy="180000"/>
              </a:xfrm>
              <a:prstGeom prst="rect">
                <a:avLst/>
              </a:prstGeom>
              <a:solidFill>
                <a:srgbClr val="682F7F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9DF45CCA-0EF1-46EF-4EB2-66C34C5316D6}"/>
                  </a:ext>
                </a:extLst>
              </p:cNvPr>
              <p:cNvSpPr/>
              <p:nvPr/>
            </p:nvSpPr>
            <p:spPr>
              <a:xfrm>
                <a:off x="10525240" y="6463789"/>
                <a:ext cx="180000" cy="180000"/>
              </a:xfrm>
              <a:prstGeom prst="rect">
                <a:avLst/>
              </a:prstGeom>
              <a:solidFill>
                <a:srgbClr val="A37EC8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2ECDFFD0-7013-E0FF-BA57-3528738FF7F9}"/>
                  </a:ext>
                </a:extLst>
              </p:cNvPr>
              <p:cNvSpPr/>
              <p:nvPr/>
            </p:nvSpPr>
            <p:spPr>
              <a:xfrm>
                <a:off x="10708097" y="6463789"/>
                <a:ext cx="180000" cy="180000"/>
              </a:xfrm>
              <a:prstGeom prst="rect">
                <a:avLst/>
              </a:prstGeom>
              <a:solidFill>
                <a:srgbClr val="E09F00"/>
              </a:solidFill>
              <a:ln w="12700" cap="flat">
                <a:noFill/>
                <a:miter lim="400000"/>
              </a:ln>
              <a:effectLst>
                <a:outerShdw blurRad="38100" dist="25400" dir="5400000" rotWithShape="0">
                  <a:srgbClr val="000000">
                    <a:alpha val="50000"/>
                  </a:srgbClr>
                </a:outerShdw>
              </a:effectLst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4570" tIns="54570" rIns="54570" bIns="54570" numCol="1" spcCol="38100" rtlCol="0" anchor="ctr">
                <a:spAutoFit/>
              </a:bodyPr>
              <a:lstStyle/>
              <a:p>
                <a:pPr marL="0" marR="0" indent="0" algn="l" defTabSz="584200" rtl="0" fontAlgn="auto" latinLnBrk="0" hangingPunct="0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GB" sz="12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Source Sans Pro"/>
                  <a:ea typeface="Source Sans Pro"/>
                  <a:cs typeface="Source Sans Pro"/>
                  <a:sym typeface="Source Sans Pro"/>
                </a:endParaRPr>
              </a:p>
            </p:txBody>
          </p:sp>
        </p:grp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73199C2E-1265-C567-F0B0-9FFD166168F5}"/>
                </a:ext>
              </a:extLst>
            </p:cNvPr>
            <p:cNvSpPr/>
            <p:nvPr/>
          </p:nvSpPr>
          <p:spPr>
            <a:xfrm>
              <a:off x="9807764" y="7030341"/>
              <a:ext cx="180000" cy="180000"/>
            </a:xfrm>
            <a:prstGeom prst="rect">
              <a:avLst/>
            </a:prstGeom>
            <a:solidFill>
              <a:srgbClr val="006548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90BFD0A2-73EE-58A5-2D88-B121FA2925D4}"/>
                </a:ext>
              </a:extLst>
            </p:cNvPr>
            <p:cNvSpPr/>
            <p:nvPr/>
          </p:nvSpPr>
          <p:spPr>
            <a:xfrm>
              <a:off x="9988588" y="7030341"/>
              <a:ext cx="180000" cy="180000"/>
            </a:xfrm>
            <a:prstGeom prst="rect">
              <a:avLst/>
            </a:prstGeom>
            <a:solidFill>
              <a:srgbClr val="3F9D8A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30A03A1A-3772-D07D-8DB8-E2D901F97218}"/>
                </a:ext>
              </a:extLst>
            </p:cNvPr>
            <p:cNvSpPr/>
            <p:nvPr/>
          </p:nvSpPr>
          <p:spPr>
            <a:xfrm>
              <a:off x="10169414" y="7030341"/>
              <a:ext cx="180000" cy="180000"/>
            </a:xfrm>
            <a:prstGeom prst="rect">
              <a:avLst/>
            </a:prstGeom>
            <a:solidFill>
              <a:srgbClr val="003F2B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2DA8A4B-DDEF-A643-A717-B632BA2CED7C}"/>
                </a:ext>
              </a:extLst>
            </p:cNvPr>
            <p:cNvSpPr/>
            <p:nvPr/>
          </p:nvSpPr>
          <p:spPr>
            <a:xfrm>
              <a:off x="9808357" y="7331111"/>
              <a:ext cx="180000" cy="180000"/>
            </a:xfrm>
            <a:prstGeom prst="rect">
              <a:avLst/>
            </a:prstGeom>
            <a:solidFill>
              <a:srgbClr val="003F2B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6889EF94-2CFB-F8B3-D6DC-8CAD807DE201}"/>
                </a:ext>
              </a:extLst>
            </p:cNvPr>
            <p:cNvSpPr/>
            <p:nvPr/>
          </p:nvSpPr>
          <p:spPr>
            <a:xfrm>
              <a:off x="9986681" y="7331111"/>
              <a:ext cx="180000" cy="180000"/>
            </a:xfrm>
            <a:prstGeom prst="rect">
              <a:avLst/>
            </a:prstGeom>
            <a:solidFill>
              <a:srgbClr val="682F7F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4570" tIns="54570" rIns="54570" bIns="54570" numCol="1" spcCol="38100" rtlCol="0" anchor="ctr">
              <a:spAutoFit/>
            </a:bodyPr>
            <a:lstStyle/>
            <a:p>
              <a:pPr marL="0" marR="0" indent="0" algn="l" defTabSz="584200" rtl="0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2E270B53-20D2-DC97-3E78-1BE5334ED557}"/>
              </a:ext>
            </a:extLst>
          </p:cNvPr>
          <p:cNvSpPr txBox="1"/>
          <p:nvPr/>
        </p:nvSpPr>
        <p:spPr>
          <a:xfrm>
            <a:off x="9205103" y="6404565"/>
            <a:ext cx="7020426" cy="6554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r>
              <a:rPr lang="en-GB" sz="1100" dirty="0" err="1"/>
              <a:t>scale_color_commonslib</a:t>
            </a:r>
            <a:r>
              <a:rPr lang="en-GB" sz="1100" dirty="0"/>
              <a:t>(palette=&lt;</a:t>
            </a:r>
            <a:r>
              <a:rPr lang="en-GB" sz="1100" dirty="0" err="1"/>
              <a:t>palette_name</a:t>
            </a:r>
            <a:r>
              <a:rPr lang="en-GB" sz="1100" dirty="0"/>
              <a:t>&gt;)</a:t>
            </a:r>
          </a:p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lang="en-GB" sz="1100" dirty="0"/>
          </a:p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r>
              <a:rPr lang="en-GB" sz="1100" dirty="0" err="1"/>
              <a:t>scale_fill_commonslib</a:t>
            </a:r>
            <a:r>
              <a:rPr lang="en-GB" sz="1100" dirty="0"/>
              <a:t>(palette=&lt;</a:t>
            </a:r>
            <a:r>
              <a:rPr lang="en-GB" sz="1100" dirty="0" err="1"/>
              <a:t>palette_name</a:t>
            </a:r>
            <a:r>
              <a:rPr lang="en-GB" sz="1100" dirty="0"/>
              <a:t>&gt;)</a:t>
            </a:r>
          </a:p>
        </p:txBody>
      </p:sp>
      <p:grpSp>
        <p:nvGrpSpPr>
          <p:cNvPr id="137" name="Group">
            <a:extLst>
              <a:ext uri="{FF2B5EF4-FFF2-40B4-BE49-F238E27FC236}">
                <a16:creationId xmlns:a16="http://schemas.microsoft.com/office/drawing/2014/main" id="{A5123FEE-2716-5CFA-829B-1E347CF5ACBD}"/>
              </a:ext>
            </a:extLst>
          </p:cNvPr>
          <p:cNvGrpSpPr/>
          <p:nvPr/>
        </p:nvGrpSpPr>
        <p:grpSpPr>
          <a:xfrm>
            <a:off x="4868162" y="8201956"/>
            <a:ext cx="720776" cy="653857"/>
            <a:chOff x="0" y="0"/>
            <a:chExt cx="448425" cy="448544"/>
          </a:xfrm>
        </p:grpSpPr>
        <p:pic>
          <p:nvPicPr>
            <p:cNvPr id="138" name="Image" descr="Image">
              <a:extLst>
                <a:ext uri="{FF2B5EF4-FFF2-40B4-BE49-F238E27FC236}">
                  <a16:creationId xmlns:a16="http://schemas.microsoft.com/office/drawing/2014/main" id="{4D38AEB6-9CB6-20B4-656E-17064C8D3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9" name="Line">
              <a:extLst>
                <a:ext uri="{FF2B5EF4-FFF2-40B4-BE49-F238E27FC236}">
                  <a16:creationId xmlns:a16="http://schemas.microsoft.com/office/drawing/2014/main" id="{00B9D2FE-BF1C-ACAF-1B70-1CB121540FD3}"/>
                </a:ext>
              </a:extLst>
            </p:cNvPr>
            <p:cNvSpPr/>
            <p:nvPr/>
          </p:nvSpPr>
          <p:spPr>
            <a:xfrm>
              <a:off x="2587" y="92697"/>
              <a:ext cx="444185" cy="2756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04" y="20087"/>
                  </a:lnTo>
                  <a:lnTo>
                    <a:pt x="3587" y="18508"/>
                  </a:lnTo>
                  <a:lnTo>
                    <a:pt x="4599" y="16206"/>
                  </a:lnTo>
                  <a:cubicBezTo>
                    <a:pt x="4736" y="15881"/>
                    <a:pt x="4874" y="15555"/>
                    <a:pt x="5011" y="15230"/>
                  </a:cubicBezTo>
                  <a:cubicBezTo>
                    <a:pt x="5148" y="14905"/>
                    <a:pt x="5286" y="14579"/>
                    <a:pt x="5423" y="14254"/>
                  </a:cubicBezTo>
                  <a:cubicBezTo>
                    <a:pt x="5593" y="14819"/>
                    <a:pt x="5762" y="15384"/>
                    <a:pt x="5932" y="15948"/>
                  </a:cubicBezTo>
                  <a:cubicBezTo>
                    <a:pt x="6102" y="16513"/>
                    <a:pt x="6272" y="17078"/>
                    <a:pt x="6442" y="17643"/>
                  </a:cubicBezTo>
                  <a:lnTo>
                    <a:pt x="8078" y="16008"/>
                  </a:lnTo>
                  <a:lnTo>
                    <a:pt x="9272" y="13609"/>
                  </a:lnTo>
                  <a:lnTo>
                    <a:pt x="10499" y="9377"/>
                  </a:lnTo>
                  <a:lnTo>
                    <a:pt x="12208" y="11732"/>
                  </a:lnTo>
                  <a:lnTo>
                    <a:pt x="13281" y="8587"/>
                  </a:lnTo>
                  <a:lnTo>
                    <a:pt x="14507" y="4200"/>
                  </a:lnTo>
                  <a:lnTo>
                    <a:pt x="15513" y="0"/>
                  </a:lnTo>
                  <a:lnTo>
                    <a:pt x="16848" y="4930"/>
                  </a:lnTo>
                  <a:lnTo>
                    <a:pt x="18336" y="3993"/>
                  </a:lnTo>
                  <a:lnTo>
                    <a:pt x="19783" y="9080"/>
                  </a:lnTo>
                  <a:lnTo>
                    <a:pt x="21600" y="13583"/>
                  </a:lnTo>
                </a:path>
              </a:pathLst>
            </a:custGeom>
            <a:noFill/>
            <a:ln w="12700" cap="flat">
              <a:solidFill>
                <a:srgbClr val="659FD5"/>
              </a:solidFill>
              <a:prstDash val="solid"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 algn="ctr">
                <a:spcBef>
                  <a:spcPts val="0"/>
                </a:spcBef>
                <a:defRPr sz="2600" b="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/>
            </a:p>
          </p:txBody>
        </p:sp>
      </p:grpSp>
      <p:sp>
        <p:nvSpPr>
          <p:cNvPr id="140" name="ggplot(mpg, aes(hwy, cty)) +…">
            <a:extLst>
              <a:ext uri="{FF2B5EF4-FFF2-40B4-BE49-F238E27FC236}">
                <a16:creationId xmlns:a16="http://schemas.microsoft.com/office/drawing/2014/main" id="{B3DEC55D-1A37-B335-E378-F82CE3867449}"/>
              </a:ext>
            </a:extLst>
          </p:cNvPr>
          <p:cNvSpPr txBox="1"/>
          <p:nvPr/>
        </p:nvSpPr>
        <p:spPr>
          <a:xfrm>
            <a:off x="4807883" y="9382310"/>
            <a:ext cx="1234215" cy="84887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labs(caption=&lt;caption&gt;) +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 err="1"/>
              <a:t>theme_commonslib</a:t>
            </a:r>
            <a:r>
              <a:rPr lang="en-GB" sz="800" dirty="0"/>
              <a:t>(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 err="1"/>
              <a:t>caption_position</a:t>
            </a:r>
            <a:r>
              <a:rPr lang="en-GB" sz="800" dirty="0"/>
              <a:t>=&lt;</a:t>
            </a:r>
            <a:r>
              <a:rPr lang="en-GB" sz="800" dirty="0" err="1"/>
              <a:t>left|right</a:t>
            </a:r>
            <a:r>
              <a:rPr lang="en-GB" sz="800" dirty="0"/>
              <a:t>&gt;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sz="8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77A225A-E346-24F4-CC4A-AD8651E146F8}"/>
              </a:ext>
            </a:extLst>
          </p:cNvPr>
          <p:cNvSpPr txBox="1"/>
          <p:nvPr/>
        </p:nvSpPr>
        <p:spPr>
          <a:xfrm>
            <a:off x="5156815" y="8766875"/>
            <a:ext cx="16310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8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x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6FCEABE-A905-71E7-8AD4-9CB7E102A2E3}"/>
              </a:ext>
            </a:extLst>
          </p:cNvPr>
          <p:cNvSpPr txBox="1"/>
          <p:nvPr/>
        </p:nvSpPr>
        <p:spPr>
          <a:xfrm>
            <a:off x="4730691" y="8376321"/>
            <a:ext cx="16310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800" dirty="0"/>
              <a:t>y</a:t>
            </a:r>
            <a:endParaRPr kumimoji="0" lang="en-GB" sz="8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9BDA477-EB4E-748B-1C8B-8E41876F2699}"/>
              </a:ext>
            </a:extLst>
          </p:cNvPr>
          <p:cNvSpPr txBox="1"/>
          <p:nvPr/>
        </p:nvSpPr>
        <p:spPr>
          <a:xfrm>
            <a:off x="5199383" y="8899499"/>
            <a:ext cx="458058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800" dirty="0"/>
              <a:t>caption</a:t>
            </a:r>
            <a:endParaRPr kumimoji="0" lang="en-GB" sz="8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44" name="Group">
            <a:extLst>
              <a:ext uri="{FF2B5EF4-FFF2-40B4-BE49-F238E27FC236}">
                <a16:creationId xmlns:a16="http://schemas.microsoft.com/office/drawing/2014/main" id="{35F5EE3D-1CEF-1BF4-209A-62C3F1434348}"/>
              </a:ext>
            </a:extLst>
          </p:cNvPr>
          <p:cNvGrpSpPr/>
          <p:nvPr/>
        </p:nvGrpSpPr>
        <p:grpSpPr>
          <a:xfrm>
            <a:off x="6254936" y="8193907"/>
            <a:ext cx="720776" cy="653857"/>
            <a:chOff x="0" y="0"/>
            <a:chExt cx="448425" cy="448544"/>
          </a:xfrm>
        </p:grpSpPr>
        <p:pic>
          <p:nvPicPr>
            <p:cNvPr id="145" name="Image" descr="Image">
              <a:extLst>
                <a:ext uri="{FF2B5EF4-FFF2-40B4-BE49-F238E27FC236}">
                  <a16:creationId xmlns:a16="http://schemas.microsoft.com/office/drawing/2014/main" id="{E65BB0D8-5C81-63AC-805F-E587D1DE69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6" name="Line">
              <a:extLst>
                <a:ext uri="{FF2B5EF4-FFF2-40B4-BE49-F238E27FC236}">
                  <a16:creationId xmlns:a16="http://schemas.microsoft.com/office/drawing/2014/main" id="{02438969-6714-D093-7088-DEBE065C87AD}"/>
                </a:ext>
              </a:extLst>
            </p:cNvPr>
            <p:cNvSpPr/>
            <p:nvPr/>
          </p:nvSpPr>
          <p:spPr>
            <a:xfrm>
              <a:off x="2587" y="92697"/>
              <a:ext cx="444185" cy="2756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04" y="20087"/>
                  </a:lnTo>
                  <a:lnTo>
                    <a:pt x="3587" y="18508"/>
                  </a:lnTo>
                  <a:lnTo>
                    <a:pt x="4599" y="16206"/>
                  </a:lnTo>
                  <a:cubicBezTo>
                    <a:pt x="4736" y="15881"/>
                    <a:pt x="4874" y="15555"/>
                    <a:pt x="5011" y="15230"/>
                  </a:cubicBezTo>
                  <a:cubicBezTo>
                    <a:pt x="5148" y="14905"/>
                    <a:pt x="5286" y="14579"/>
                    <a:pt x="5423" y="14254"/>
                  </a:cubicBezTo>
                  <a:cubicBezTo>
                    <a:pt x="5593" y="14819"/>
                    <a:pt x="5762" y="15384"/>
                    <a:pt x="5932" y="15948"/>
                  </a:cubicBezTo>
                  <a:cubicBezTo>
                    <a:pt x="6102" y="16513"/>
                    <a:pt x="6272" y="17078"/>
                    <a:pt x="6442" y="17643"/>
                  </a:cubicBezTo>
                  <a:lnTo>
                    <a:pt x="8078" y="16008"/>
                  </a:lnTo>
                  <a:lnTo>
                    <a:pt x="9272" y="13609"/>
                  </a:lnTo>
                  <a:lnTo>
                    <a:pt x="10499" y="9377"/>
                  </a:lnTo>
                  <a:lnTo>
                    <a:pt x="12208" y="11732"/>
                  </a:lnTo>
                  <a:lnTo>
                    <a:pt x="13281" y="8587"/>
                  </a:lnTo>
                  <a:lnTo>
                    <a:pt x="14507" y="4200"/>
                  </a:lnTo>
                  <a:lnTo>
                    <a:pt x="15513" y="0"/>
                  </a:lnTo>
                  <a:lnTo>
                    <a:pt x="16848" y="4930"/>
                  </a:lnTo>
                  <a:lnTo>
                    <a:pt x="18336" y="3993"/>
                  </a:lnTo>
                  <a:lnTo>
                    <a:pt x="19783" y="9080"/>
                  </a:lnTo>
                  <a:lnTo>
                    <a:pt x="21600" y="13583"/>
                  </a:lnTo>
                </a:path>
              </a:pathLst>
            </a:custGeom>
            <a:noFill/>
            <a:ln w="12700" cap="flat">
              <a:solidFill>
                <a:srgbClr val="659FD5"/>
              </a:solidFill>
              <a:prstDash val="solid"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 algn="ctr">
                <a:spcBef>
                  <a:spcPts val="0"/>
                </a:spcBef>
                <a:defRPr sz="2600" b="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/>
            </a:p>
          </p:txBody>
        </p:sp>
      </p:grpSp>
      <p:sp>
        <p:nvSpPr>
          <p:cNvPr id="148" name="TextBox 147">
            <a:extLst>
              <a:ext uri="{FF2B5EF4-FFF2-40B4-BE49-F238E27FC236}">
                <a16:creationId xmlns:a16="http://schemas.microsoft.com/office/drawing/2014/main" id="{06298593-71DB-7C46-6464-CE8A5710766C}"/>
              </a:ext>
            </a:extLst>
          </p:cNvPr>
          <p:cNvSpPr txBox="1"/>
          <p:nvPr/>
        </p:nvSpPr>
        <p:spPr>
          <a:xfrm>
            <a:off x="6117465" y="8368272"/>
            <a:ext cx="16310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800" dirty="0"/>
              <a:t>y</a:t>
            </a:r>
            <a:endParaRPr kumimoji="0" lang="en-GB" sz="800" b="1" i="0" u="none" strike="noStrike" cap="none" spc="0" normalizeH="0" baseline="0" dirty="0">
              <a:ln>
                <a:noFill/>
              </a:ln>
              <a:solidFill>
                <a:srgbClr val="4C4C4C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50" name="ggplot(mpg, aes(hwy, cty)) +…">
            <a:extLst>
              <a:ext uri="{FF2B5EF4-FFF2-40B4-BE49-F238E27FC236}">
                <a16:creationId xmlns:a16="http://schemas.microsoft.com/office/drawing/2014/main" id="{660BA4BB-B33F-4B74-477B-105BF5C851C9}"/>
              </a:ext>
            </a:extLst>
          </p:cNvPr>
          <p:cNvSpPr txBox="1"/>
          <p:nvPr/>
        </p:nvSpPr>
        <p:spPr>
          <a:xfrm>
            <a:off x="6243591" y="9205021"/>
            <a:ext cx="732121" cy="248705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labs(x=NULL)</a:t>
            </a:r>
            <a:endParaRPr dirty="0"/>
          </a:p>
        </p:txBody>
      </p:sp>
      <p:grpSp>
        <p:nvGrpSpPr>
          <p:cNvPr id="151" name="Group">
            <a:extLst>
              <a:ext uri="{FF2B5EF4-FFF2-40B4-BE49-F238E27FC236}">
                <a16:creationId xmlns:a16="http://schemas.microsoft.com/office/drawing/2014/main" id="{E5212D30-F91A-2F84-C181-D5FA4D4A3853}"/>
              </a:ext>
            </a:extLst>
          </p:cNvPr>
          <p:cNvGrpSpPr/>
          <p:nvPr/>
        </p:nvGrpSpPr>
        <p:grpSpPr>
          <a:xfrm>
            <a:off x="7409743" y="8193907"/>
            <a:ext cx="720776" cy="653857"/>
            <a:chOff x="0" y="0"/>
            <a:chExt cx="448425" cy="448544"/>
          </a:xfrm>
        </p:grpSpPr>
        <p:pic>
          <p:nvPicPr>
            <p:cNvPr id="152" name="Image" descr="Image">
              <a:extLst>
                <a:ext uri="{FF2B5EF4-FFF2-40B4-BE49-F238E27FC236}">
                  <a16:creationId xmlns:a16="http://schemas.microsoft.com/office/drawing/2014/main" id="{F4B1011E-79A1-C343-1B8A-D62BA4EE5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53" name="Line">
              <a:extLst>
                <a:ext uri="{FF2B5EF4-FFF2-40B4-BE49-F238E27FC236}">
                  <a16:creationId xmlns:a16="http://schemas.microsoft.com/office/drawing/2014/main" id="{81401DA6-51C5-DDB3-4EC5-A7A1D557C137}"/>
                </a:ext>
              </a:extLst>
            </p:cNvPr>
            <p:cNvSpPr/>
            <p:nvPr/>
          </p:nvSpPr>
          <p:spPr>
            <a:xfrm>
              <a:off x="2587" y="92697"/>
              <a:ext cx="444185" cy="2756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04" y="20087"/>
                  </a:lnTo>
                  <a:lnTo>
                    <a:pt x="3587" y="18508"/>
                  </a:lnTo>
                  <a:lnTo>
                    <a:pt x="4599" y="16206"/>
                  </a:lnTo>
                  <a:cubicBezTo>
                    <a:pt x="4736" y="15881"/>
                    <a:pt x="4874" y="15555"/>
                    <a:pt x="5011" y="15230"/>
                  </a:cubicBezTo>
                  <a:cubicBezTo>
                    <a:pt x="5148" y="14905"/>
                    <a:pt x="5286" y="14579"/>
                    <a:pt x="5423" y="14254"/>
                  </a:cubicBezTo>
                  <a:cubicBezTo>
                    <a:pt x="5593" y="14819"/>
                    <a:pt x="5762" y="15384"/>
                    <a:pt x="5932" y="15948"/>
                  </a:cubicBezTo>
                  <a:cubicBezTo>
                    <a:pt x="6102" y="16513"/>
                    <a:pt x="6272" y="17078"/>
                    <a:pt x="6442" y="17643"/>
                  </a:cubicBezTo>
                  <a:lnTo>
                    <a:pt x="8078" y="16008"/>
                  </a:lnTo>
                  <a:lnTo>
                    <a:pt x="9272" y="13609"/>
                  </a:lnTo>
                  <a:lnTo>
                    <a:pt x="10499" y="9377"/>
                  </a:lnTo>
                  <a:lnTo>
                    <a:pt x="12208" y="11732"/>
                  </a:lnTo>
                  <a:lnTo>
                    <a:pt x="13281" y="8587"/>
                  </a:lnTo>
                  <a:lnTo>
                    <a:pt x="14507" y="4200"/>
                  </a:lnTo>
                  <a:lnTo>
                    <a:pt x="15513" y="0"/>
                  </a:lnTo>
                  <a:lnTo>
                    <a:pt x="16848" y="4930"/>
                  </a:lnTo>
                  <a:lnTo>
                    <a:pt x="18336" y="3993"/>
                  </a:lnTo>
                  <a:lnTo>
                    <a:pt x="19783" y="9080"/>
                  </a:lnTo>
                  <a:lnTo>
                    <a:pt x="21600" y="13583"/>
                  </a:lnTo>
                </a:path>
              </a:pathLst>
            </a:custGeom>
            <a:noFill/>
            <a:ln w="12700" cap="flat">
              <a:solidFill>
                <a:srgbClr val="659FD5"/>
              </a:solidFill>
              <a:prstDash val="solid"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 algn="ctr">
                <a:spcBef>
                  <a:spcPts val="0"/>
                </a:spcBef>
                <a:defRPr sz="2600" b="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/>
            </a:p>
          </p:txBody>
        </p:sp>
      </p:grpSp>
      <p:sp>
        <p:nvSpPr>
          <p:cNvPr id="155" name="ggplot(mpg, aes(hwy, cty)) +…">
            <a:extLst>
              <a:ext uri="{FF2B5EF4-FFF2-40B4-BE49-F238E27FC236}">
                <a16:creationId xmlns:a16="http://schemas.microsoft.com/office/drawing/2014/main" id="{20BC19D6-02F8-AF23-B9E9-DB3903273F05}"/>
              </a:ext>
            </a:extLst>
          </p:cNvPr>
          <p:cNvSpPr txBox="1"/>
          <p:nvPr/>
        </p:nvSpPr>
        <p:spPr>
          <a:xfrm>
            <a:off x="7398398" y="9205021"/>
            <a:ext cx="732121" cy="248705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labs(y=NULL)</a:t>
            </a:r>
            <a:endParaRPr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11A1D6B-4309-2A52-F55D-CB313B09F3D8}"/>
              </a:ext>
            </a:extLst>
          </p:cNvPr>
          <p:cNvSpPr txBox="1"/>
          <p:nvPr/>
        </p:nvSpPr>
        <p:spPr>
          <a:xfrm>
            <a:off x="7710699" y="8811381"/>
            <a:ext cx="163105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8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x</a:t>
            </a:r>
          </a:p>
        </p:txBody>
      </p:sp>
      <p:grpSp>
        <p:nvGrpSpPr>
          <p:cNvPr id="163" name="Group">
            <a:extLst>
              <a:ext uri="{FF2B5EF4-FFF2-40B4-BE49-F238E27FC236}">
                <a16:creationId xmlns:a16="http://schemas.microsoft.com/office/drawing/2014/main" id="{D60CDFEA-03E3-832F-F4C6-735DE2021050}"/>
              </a:ext>
            </a:extLst>
          </p:cNvPr>
          <p:cNvGrpSpPr/>
          <p:nvPr/>
        </p:nvGrpSpPr>
        <p:grpSpPr>
          <a:xfrm>
            <a:off x="8549852" y="8206221"/>
            <a:ext cx="655251" cy="653857"/>
            <a:chOff x="0" y="0"/>
            <a:chExt cx="448425" cy="448544"/>
          </a:xfrm>
        </p:grpSpPr>
        <p:pic>
          <p:nvPicPr>
            <p:cNvPr id="164" name="Image" descr="Image">
              <a:extLst>
                <a:ext uri="{FF2B5EF4-FFF2-40B4-BE49-F238E27FC236}">
                  <a16:creationId xmlns:a16="http://schemas.microsoft.com/office/drawing/2014/main" id="{B1BD43FC-EA03-6ED8-379C-EC18E1701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65" name="Line">
              <a:extLst>
                <a:ext uri="{FF2B5EF4-FFF2-40B4-BE49-F238E27FC236}">
                  <a16:creationId xmlns:a16="http://schemas.microsoft.com/office/drawing/2014/main" id="{C7690F18-1FB9-2569-9D3F-9F252DA28CDD}"/>
                </a:ext>
              </a:extLst>
            </p:cNvPr>
            <p:cNvSpPr/>
            <p:nvPr/>
          </p:nvSpPr>
          <p:spPr>
            <a:xfrm>
              <a:off x="2587" y="92697"/>
              <a:ext cx="444185" cy="2756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04" y="20087"/>
                  </a:lnTo>
                  <a:lnTo>
                    <a:pt x="3587" y="18508"/>
                  </a:lnTo>
                  <a:lnTo>
                    <a:pt x="4599" y="16206"/>
                  </a:lnTo>
                  <a:cubicBezTo>
                    <a:pt x="4736" y="15881"/>
                    <a:pt x="4874" y="15555"/>
                    <a:pt x="5011" y="15230"/>
                  </a:cubicBezTo>
                  <a:cubicBezTo>
                    <a:pt x="5148" y="14905"/>
                    <a:pt x="5286" y="14579"/>
                    <a:pt x="5423" y="14254"/>
                  </a:cubicBezTo>
                  <a:cubicBezTo>
                    <a:pt x="5593" y="14819"/>
                    <a:pt x="5762" y="15384"/>
                    <a:pt x="5932" y="15948"/>
                  </a:cubicBezTo>
                  <a:cubicBezTo>
                    <a:pt x="6102" y="16513"/>
                    <a:pt x="6272" y="17078"/>
                    <a:pt x="6442" y="17643"/>
                  </a:cubicBezTo>
                  <a:lnTo>
                    <a:pt x="8078" y="16008"/>
                  </a:lnTo>
                  <a:lnTo>
                    <a:pt x="9272" y="13609"/>
                  </a:lnTo>
                  <a:lnTo>
                    <a:pt x="10499" y="9377"/>
                  </a:lnTo>
                  <a:lnTo>
                    <a:pt x="12208" y="11732"/>
                  </a:lnTo>
                  <a:lnTo>
                    <a:pt x="13281" y="8587"/>
                  </a:lnTo>
                  <a:lnTo>
                    <a:pt x="14507" y="4200"/>
                  </a:lnTo>
                  <a:lnTo>
                    <a:pt x="15513" y="0"/>
                  </a:lnTo>
                  <a:lnTo>
                    <a:pt x="16848" y="4930"/>
                  </a:lnTo>
                  <a:lnTo>
                    <a:pt x="18336" y="3993"/>
                  </a:lnTo>
                  <a:lnTo>
                    <a:pt x="19783" y="9080"/>
                  </a:lnTo>
                  <a:lnTo>
                    <a:pt x="21600" y="13583"/>
                  </a:lnTo>
                </a:path>
              </a:pathLst>
            </a:custGeom>
            <a:noFill/>
            <a:ln w="12700" cap="flat">
              <a:solidFill>
                <a:srgbClr val="659FD5"/>
              </a:solidFill>
              <a:prstDash val="solid"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 algn="ctr">
                <a:spcBef>
                  <a:spcPts val="0"/>
                </a:spcBef>
                <a:defRPr sz="2600" b="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/>
            </a:p>
          </p:txBody>
        </p:sp>
      </p:grpSp>
      <p:sp>
        <p:nvSpPr>
          <p:cNvPr id="166" name="ggplot(mpg, aes(hwy, cty)) +…">
            <a:extLst>
              <a:ext uri="{FF2B5EF4-FFF2-40B4-BE49-F238E27FC236}">
                <a16:creationId xmlns:a16="http://schemas.microsoft.com/office/drawing/2014/main" id="{79753FB3-5F93-5FB1-A25F-54BBCCB91E83}"/>
              </a:ext>
            </a:extLst>
          </p:cNvPr>
          <p:cNvSpPr txBox="1"/>
          <p:nvPr/>
        </p:nvSpPr>
        <p:spPr>
          <a:xfrm>
            <a:off x="8502428" y="8940863"/>
            <a:ext cx="1234215" cy="1402867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 err="1"/>
              <a:t>annotate_commonslib</a:t>
            </a:r>
            <a:r>
              <a:rPr lang="en-GB" sz="800" dirty="0"/>
              <a:t>(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x=&lt;x&gt;, y=&lt;y&gt;, label=&lt;label&gt;,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size=4.2)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sz="800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Equivalent to 12pt, size is in mm (1 pt =0.35mm)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sz="800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Puts annotation at &lt;x&gt;,&lt;y&gt;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A34B937-7672-1D7D-546A-5FE66BBB240A}"/>
              </a:ext>
            </a:extLst>
          </p:cNvPr>
          <p:cNvSpPr txBox="1"/>
          <p:nvPr/>
        </p:nvSpPr>
        <p:spPr>
          <a:xfrm>
            <a:off x="8717245" y="8119632"/>
            <a:ext cx="32020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800" b="0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label</a:t>
            </a:r>
          </a:p>
        </p:txBody>
      </p:sp>
      <p:sp>
        <p:nvSpPr>
          <p:cNvPr id="3" name="Manipulate Variables">
            <a:extLst>
              <a:ext uri="{FF2B5EF4-FFF2-40B4-BE49-F238E27FC236}">
                <a16:creationId xmlns:a16="http://schemas.microsoft.com/office/drawing/2014/main" id="{B2589421-8F7A-17CF-A974-E7BA8AFACD3E}"/>
              </a:ext>
            </a:extLst>
          </p:cNvPr>
          <p:cNvSpPr txBox="1"/>
          <p:nvPr/>
        </p:nvSpPr>
        <p:spPr>
          <a:xfrm>
            <a:off x="9435669" y="7315051"/>
            <a:ext cx="923330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dirty="0"/>
              <a:t>Saving</a:t>
            </a:r>
            <a:endParaRPr dirty="0"/>
          </a:p>
        </p:txBody>
      </p:sp>
      <p:sp>
        <p:nvSpPr>
          <p:cNvPr id="6" name="ggplot(mpg, aes(hwy, cty)) +…">
            <a:extLst>
              <a:ext uri="{FF2B5EF4-FFF2-40B4-BE49-F238E27FC236}">
                <a16:creationId xmlns:a16="http://schemas.microsoft.com/office/drawing/2014/main" id="{BFA31AFE-10F9-ADF9-5DF4-E7CB940378A8}"/>
              </a:ext>
            </a:extLst>
          </p:cNvPr>
          <p:cNvSpPr txBox="1"/>
          <p:nvPr/>
        </p:nvSpPr>
        <p:spPr>
          <a:xfrm>
            <a:off x="9908175" y="7867795"/>
            <a:ext cx="3063770" cy="387205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 err="1"/>
              <a:t>save_svg</a:t>
            </a:r>
            <a:r>
              <a:rPr lang="en-GB" sz="900" dirty="0"/>
              <a:t>(plot, filename, width, height)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 err="1"/>
              <a:t>save_png</a:t>
            </a:r>
            <a:r>
              <a:rPr lang="en-GB" sz="900" dirty="0"/>
              <a:t>(plot, filename, width, height, dpi)</a:t>
            </a:r>
          </a:p>
        </p:txBody>
      </p:sp>
      <p:sp>
        <p:nvSpPr>
          <p:cNvPr id="7" name="ggplot(mpg, aes(hwy, cty)) +…">
            <a:extLst>
              <a:ext uri="{FF2B5EF4-FFF2-40B4-BE49-F238E27FC236}">
                <a16:creationId xmlns:a16="http://schemas.microsoft.com/office/drawing/2014/main" id="{A812904E-6EBE-147B-3544-EDC22AA558FB}"/>
              </a:ext>
            </a:extLst>
          </p:cNvPr>
          <p:cNvSpPr txBox="1"/>
          <p:nvPr/>
        </p:nvSpPr>
        <p:spPr>
          <a:xfrm>
            <a:off x="9908175" y="8337451"/>
            <a:ext cx="3063770" cy="11258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sz="900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width, height in inches.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dpi = dots per inch (default 400)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100-150dpi, lower resolution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300 dpi: standard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900" dirty="0"/>
              <a:t>600 dpi: high detail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dirty="0"/>
          </a:p>
        </p:txBody>
      </p:sp>
      <p:sp>
        <p:nvSpPr>
          <p:cNvPr id="2" name="Line"/>
          <p:cNvSpPr/>
          <p:nvPr/>
        </p:nvSpPr>
        <p:spPr>
          <a:xfrm>
            <a:off x="298972" y="5846952"/>
            <a:ext cx="4309674" cy="0"/>
          </a:xfrm>
          <a:prstGeom prst="line">
            <a:avLst/>
          </a:prstGeom>
          <a:ln w="12700">
            <a:solidFill>
              <a:srgbClr val="E4E4E3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" name="To use a font awesome icon, copy and paste one from here fortawesome.github.io/Font-Awesome/cheatsheet/. Then set the text font to font awesome."/>
          <p:cNvSpPr txBox="1"/>
          <p:nvPr/>
        </p:nvSpPr>
        <p:spPr>
          <a:xfrm>
            <a:off x="272433" y="7797538"/>
            <a:ext cx="4154098" cy="64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4570" tIns="54570" rIns="54570" bIns="54570" anchor="ctr">
            <a:spAutoFit/>
          </a:bodyPr>
          <a:lstStyle/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r>
              <a:t>To use a </a:t>
            </a:r>
            <a:r>
              <a:rPr b="1"/>
              <a:t>font awesome</a:t>
            </a:r>
            <a:r>
              <a:t> icon, copy and paste one from here </a:t>
            </a:r>
            <a:r>
              <a:rPr u="sng">
                <a:hlinkClick r:id="rId7"/>
              </a:rPr>
              <a:t>fortawesome.github.io/Font-Awesome/cheatsheet/</a:t>
            </a:r>
            <a:r>
              <a:t>. Then set the text font to font awesome.</a:t>
            </a:r>
          </a:p>
        </p:txBody>
      </p:sp>
      <p:sp>
        <p:nvSpPr>
          <p:cNvPr id="5" name="Layout Suggestions"/>
          <p:cNvSpPr txBox="1"/>
          <p:nvPr/>
        </p:nvSpPr>
        <p:spPr>
          <a:xfrm>
            <a:off x="275721" y="3492309"/>
            <a:ext cx="1421864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dirty="0" err="1"/>
              <a:t>Quickstart</a:t>
            </a:r>
            <a:endParaRPr dirty="0"/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3872ADE0-6978-A207-7D39-DF4528C2D349}"/>
              </a:ext>
            </a:extLst>
          </p:cNvPr>
          <p:cNvSpPr txBox="1"/>
          <p:nvPr/>
        </p:nvSpPr>
        <p:spPr>
          <a:xfrm>
            <a:off x="272433" y="3849495"/>
            <a:ext cx="831959" cy="210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/>
            <a:r>
              <a:rPr lang="en-GB" dirty="0"/>
              <a:t>LINE CHART</a:t>
            </a:r>
            <a:endParaRPr dirty="0"/>
          </a:p>
        </p:txBody>
      </p:sp>
      <p:sp>
        <p:nvSpPr>
          <p:cNvPr id="9" name="ggplot(mpg, aes(hwy, cty)) +…">
            <a:extLst>
              <a:ext uri="{FF2B5EF4-FFF2-40B4-BE49-F238E27FC236}">
                <a16:creationId xmlns:a16="http://schemas.microsoft.com/office/drawing/2014/main" id="{E50B1236-153C-3B73-CD90-A26898249BB0}"/>
              </a:ext>
            </a:extLst>
          </p:cNvPr>
          <p:cNvSpPr txBox="1"/>
          <p:nvPr/>
        </p:nvSpPr>
        <p:spPr>
          <a:xfrm>
            <a:off x="275185" y="4162955"/>
            <a:ext cx="4296974" cy="5475777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r>
              <a:rPr lang="en-GB" b="0" dirty="0"/>
              <a:t>plot &lt;- </a:t>
            </a:r>
            <a:r>
              <a:rPr lang="en-GB" b="0" dirty="0" err="1"/>
              <a:t>ggplot</a:t>
            </a:r>
            <a:r>
              <a:rPr lang="en-GB" b="0" dirty="0"/>
              <a:t>(</a:t>
            </a:r>
          </a:p>
          <a:p>
            <a:r>
              <a:rPr lang="en-GB" b="0" dirty="0"/>
              <a:t>       data = &lt;data&gt;,</a:t>
            </a:r>
          </a:p>
          <a:p>
            <a:r>
              <a:rPr lang="en-GB" b="0" dirty="0"/>
              <a:t>       mapping = </a:t>
            </a:r>
            <a:r>
              <a:rPr lang="en-GB" b="0" dirty="0" err="1"/>
              <a:t>aes</a:t>
            </a:r>
            <a:r>
              <a:rPr lang="en-GB" b="0" dirty="0"/>
              <a:t>(x = &lt;x&gt;, y = &lt;y&gt;)</a:t>
            </a:r>
          </a:p>
          <a:p>
            <a:r>
              <a:rPr lang="en-GB" b="0" dirty="0"/>
              <a:t>) +</a:t>
            </a:r>
          </a:p>
          <a:p>
            <a:r>
              <a:rPr lang="en-GB" b="0" dirty="0"/>
              <a:t>    </a:t>
            </a:r>
          </a:p>
          <a:p>
            <a:r>
              <a:rPr lang="en-GB" b="0" dirty="0" err="1"/>
              <a:t>geom_line</a:t>
            </a:r>
            <a:r>
              <a:rPr lang="en-GB" b="0" dirty="0"/>
              <a:t>(</a:t>
            </a:r>
            <a:r>
              <a:rPr lang="en-GB" b="0" dirty="0" err="1"/>
              <a:t>color</a:t>
            </a:r>
            <a:r>
              <a:rPr lang="en-GB" b="0" dirty="0"/>
              <a:t> = </a:t>
            </a:r>
            <a:r>
              <a:rPr lang="en-GB" b="0" dirty="0" err="1"/>
              <a:t>commonslib_color</a:t>
            </a:r>
            <a:r>
              <a:rPr lang="en-GB" b="0" dirty="0"/>
              <a:t>(“</a:t>
            </a:r>
            <a:r>
              <a:rPr lang="en-GB" b="0" dirty="0" err="1"/>
              <a:t>commons_green</a:t>
            </a:r>
            <a:r>
              <a:rPr lang="en-GB" b="0" dirty="0"/>
              <a:t>”), size = 1.1) +</a:t>
            </a:r>
          </a:p>
          <a:p>
            <a:endParaRPr lang="en-GB" b="0" dirty="0"/>
          </a:p>
          <a:p>
            <a:r>
              <a:rPr lang="en-GB" b="0" dirty="0"/>
              <a:t>labs(</a:t>
            </a:r>
          </a:p>
          <a:p>
            <a:r>
              <a:rPr lang="en-GB" b="0" dirty="0"/>
              <a:t>        x = &lt;x&gt;,</a:t>
            </a:r>
          </a:p>
          <a:p>
            <a:r>
              <a:rPr lang="en-GB" b="0" dirty="0"/>
              <a:t>        y = &lt;y&gt;) +</a:t>
            </a:r>
          </a:p>
          <a:p>
            <a:endParaRPr lang="en-GB" b="0" dirty="0"/>
          </a:p>
          <a:p>
            <a:r>
              <a:rPr lang="en-GB" b="0" dirty="0"/>
              <a:t> </a:t>
            </a:r>
            <a:r>
              <a:rPr lang="en-GB" b="0" dirty="0" err="1"/>
              <a:t>scale_x_continuous</a:t>
            </a:r>
            <a:r>
              <a:rPr lang="en-GB" b="0" dirty="0"/>
              <a:t>(breaks = </a:t>
            </a:r>
            <a:r>
              <a:rPr lang="en-GB" b="0" dirty="0" err="1"/>
              <a:t>seq</a:t>
            </a:r>
            <a:r>
              <a:rPr lang="en-GB" b="0" dirty="0"/>
              <a:t>(0, 10, 2)) +</a:t>
            </a:r>
          </a:p>
          <a:p>
            <a:r>
              <a:rPr lang="en-GB" b="0" dirty="0"/>
              <a:t> </a:t>
            </a:r>
            <a:r>
              <a:rPr lang="en-GB" b="0" dirty="0" err="1"/>
              <a:t>scale_y_continuous</a:t>
            </a:r>
            <a:r>
              <a:rPr lang="en-GB" b="0" dirty="0"/>
              <a:t>(limits = c(0, 20)) +</a:t>
            </a:r>
          </a:p>
          <a:p>
            <a:endParaRPr lang="en-GB" b="0" dirty="0"/>
          </a:p>
          <a:p>
            <a:r>
              <a:rPr lang="en-GB" b="0" dirty="0"/>
              <a:t> </a:t>
            </a:r>
            <a:r>
              <a:rPr lang="en-GB" b="0" dirty="0" err="1"/>
              <a:t>theme_commonslib</a:t>
            </a:r>
            <a:r>
              <a:rPr lang="en-GB" b="0" dirty="0"/>
              <a:t>() </a:t>
            </a:r>
          </a:p>
          <a:p>
            <a:endParaRPr lang="en-GB" b="0" dirty="0"/>
          </a:p>
          <a:p>
            <a:r>
              <a:rPr lang="en-GB" b="0" dirty="0"/>
              <a:t>plot &lt;- plot + </a:t>
            </a:r>
            <a:r>
              <a:rPr lang="en-GB" b="0" dirty="0" err="1"/>
              <a:t>add_commonslib_titles</a:t>
            </a:r>
            <a:r>
              <a:rPr lang="en-GB" b="0" dirty="0"/>
              <a:t>(</a:t>
            </a:r>
          </a:p>
          <a:p>
            <a:r>
              <a:rPr lang="en-GB" b="0" dirty="0"/>
              <a:t>   plot,</a:t>
            </a:r>
          </a:p>
          <a:p>
            <a:r>
              <a:rPr lang="en-GB" b="0" dirty="0"/>
              <a:t>   title = &lt;title&gt;,</a:t>
            </a:r>
          </a:p>
          <a:p>
            <a:r>
              <a:rPr lang="en-GB" b="0" dirty="0"/>
              <a:t>    subtitle = &lt;title&gt;</a:t>
            </a:r>
          </a:p>
          <a:p>
            <a:r>
              <a:rPr lang="en-GB" b="0" dirty="0"/>
              <a:t>)</a:t>
            </a:r>
          </a:p>
          <a:p>
            <a:r>
              <a:rPr lang="en-GB" b="0" dirty="0"/>
              <a:t># Save the plot</a:t>
            </a:r>
          </a:p>
          <a:p>
            <a:r>
              <a:rPr lang="en-GB" b="0" dirty="0" err="1"/>
              <a:t>save_png</a:t>
            </a:r>
            <a:r>
              <a:rPr lang="en-GB" b="0" dirty="0"/>
              <a:t>(plot, “&lt;</a:t>
            </a:r>
            <a:r>
              <a:rPr lang="en-GB" b="0" dirty="0" err="1"/>
              <a:t>plotname</a:t>
            </a:r>
            <a:r>
              <a:rPr lang="en-GB" b="0" dirty="0"/>
              <a:t>&gt;.png", width = 8, height = 5)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dirty="0"/>
          </a:p>
        </p:txBody>
      </p:sp>
      <p:sp>
        <p:nvSpPr>
          <p:cNvPr id="10" name="Word balloons"/>
          <p:cNvSpPr/>
          <p:nvPr/>
        </p:nvSpPr>
        <p:spPr>
          <a:xfrm>
            <a:off x="2246187" y="3862768"/>
            <a:ext cx="2258965" cy="739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136" y="0"/>
                </a:moveTo>
                <a:cubicBezTo>
                  <a:pt x="4296" y="0"/>
                  <a:pt x="3611" y="1497"/>
                  <a:pt x="3611" y="3334"/>
                </a:cubicBezTo>
                <a:lnTo>
                  <a:pt x="3611" y="15677"/>
                </a:lnTo>
                <a:lnTo>
                  <a:pt x="0" y="21600"/>
                </a:lnTo>
                <a:lnTo>
                  <a:pt x="4909" y="19951"/>
                </a:lnTo>
                <a:cubicBezTo>
                  <a:pt x="4986" y="19977"/>
                  <a:pt x="5056" y="20057"/>
                  <a:pt x="5136" y="20057"/>
                </a:cubicBezTo>
                <a:lnTo>
                  <a:pt x="20083" y="20057"/>
                </a:lnTo>
                <a:cubicBezTo>
                  <a:pt x="20923" y="20057"/>
                  <a:pt x="21600" y="18560"/>
                  <a:pt x="21600" y="16723"/>
                </a:cubicBezTo>
                <a:lnTo>
                  <a:pt x="21600" y="3334"/>
                </a:lnTo>
                <a:cubicBezTo>
                  <a:pt x="21600" y="1497"/>
                  <a:pt x="20923" y="0"/>
                  <a:pt x="20083" y="0"/>
                </a:cubicBezTo>
                <a:lnTo>
                  <a:pt x="5136" y="0"/>
                </a:lnTo>
                <a:close/>
              </a:path>
            </a:pathLst>
          </a:custGeom>
          <a:solidFill>
            <a:srgbClr val="659FD5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32000" tIns="72000" rIns="0" bIns="72000" anchor="ctr">
            <a:spAutoFit/>
          </a:bodyPr>
          <a:lstStyle>
            <a:lvl1pPr algn="ctr">
              <a:lnSpc>
                <a:spcPct val="8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>
                <a:solidFill>
                  <a:srgbClr val="FFFFFF"/>
                </a:solidFill>
              </a:defRPr>
            </a:lvl1pPr>
          </a:lstStyle>
          <a:p>
            <a:r>
              <a:rPr lang="en-GB" dirty="0" err="1"/>
              <a:t>aes</a:t>
            </a:r>
            <a:r>
              <a:rPr lang="en-GB" dirty="0"/>
              <a:t> maps &lt;x&gt; to x and &lt;y&gt; to y. This can be set here to apply to all </a:t>
            </a:r>
            <a:r>
              <a:rPr lang="en-GB" dirty="0" err="1"/>
              <a:t>geoms</a:t>
            </a:r>
            <a:r>
              <a:rPr lang="en-GB" dirty="0"/>
              <a:t>, or set in each geom.</a:t>
            </a:r>
            <a:endParaRPr dirty="0"/>
          </a:p>
        </p:txBody>
      </p:sp>
      <p:sp>
        <p:nvSpPr>
          <p:cNvPr id="11" name="Word balloons">
            <a:extLst>
              <a:ext uri="{FF2B5EF4-FFF2-40B4-BE49-F238E27FC236}">
                <a16:creationId xmlns:a16="http://schemas.microsoft.com/office/drawing/2014/main" id="{88349141-AF81-8F5E-49B5-0901D098327C}"/>
              </a:ext>
            </a:extLst>
          </p:cNvPr>
          <p:cNvSpPr/>
          <p:nvPr/>
        </p:nvSpPr>
        <p:spPr>
          <a:xfrm>
            <a:off x="968588" y="5607993"/>
            <a:ext cx="2258965" cy="4440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136" y="0"/>
                </a:moveTo>
                <a:cubicBezTo>
                  <a:pt x="4296" y="0"/>
                  <a:pt x="3611" y="1497"/>
                  <a:pt x="3611" y="3334"/>
                </a:cubicBezTo>
                <a:lnTo>
                  <a:pt x="3611" y="15677"/>
                </a:lnTo>
                <a:lnTo>
                  <a:pt x="0" y="21600"/>
                </a:lnTo>
                <a:lnTo>
                  <a:pt x="4909" y="19951"/>
                </a:lnTo>
                <a:cubicBezTo>
                  <a:pt x="4986" y="19977"/>
                  <a:pt x="5056" y="20057"/>
                  <a:pt x="5136" y="20057"/>
                </a:cubicBezTo>
                <a:lnTo>
                  <a:pt x="20083" y="20057"/>
                </a:lnTo>
                <a:cubicBezTo>
                  <a:pt x="20923" y="20057"/>
                  <a:pt x="21600" y="18560"/>
                  <a:pt x="21600" y="16723"/>
                </a:cubicBezTo>
                <a:lnTo>
                  <a:pt x="21600" y="3334"/>
                </a:lnTo>
                <a:cubicBezTo>
                  <a:pt x="21600" y="1497"/>
                  <a:pt x="20923" y="0"/>
                  <a:pt x="20083" y="0"/>
                </a:cubicBezTo>
                <a:lnTo>
                  <a:pt x="5136" y="0"/>
                </a:lnTo>
                <a:close/>
              </a:path>
            </a:pathLst>
          </a:custGeom>
          <a:solidFill>
            <a:srgbClr val="659FD5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32000" tIns="72000" rIns="0" bIns="72000" anchor="ctr">
            <a:spAutoFit/>
          </a:bodyPr>
          <a:lstStyle>
            <a:lvl1pPr algn="ctr">
              <a:lnSpc>
                <a:spcPct val="8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Set x and y axes labels here</a:t>
            </a:r>
            <a:endParaRPr dirty="0"/>
          </a:p>
        </p:txBody>
      </p:sp>
      <p:sp>
        <p:nvSpPr>
          <p:cNvPr id="12" name="Word balloons">
            <a:extLst>
              <a:ext uri="{FF2B5EF4-FFF2-40B4-BE49-F238E27FC236}">
                <a16:creationId xmlns:a16="http://schemas.microsoft.com/office/drawing/2014/main" id="{0BEE3BE4-659E-A5E5-2DE4-6B4B28562983}"/>
              </a:ext>
            </a:extLst>
          </p:cNvPr>
          <p:cNvSpPr/>
          <p:nvPr/>
        </p:nvSpPr>
        <p:spPr>
          <a:xfrm>
            <a:off x="3023658" y="5977259"/>
            <a:ext cx="1544694" cy="7394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136" y="0"/>
                </a:moveTo>
                <a:cubicBezTo>
                  <a:pt x="4296" y="0"/>
                  <a:pt x="3611" y="1497"/>
                  <a:pt x="3611" y="3334"/>
                </a:cubicBezTo>
                <a:lnTo>
                  <a:pt x="3611" y="15677"/>
                </a:lnTo>
                <a:lnTo>
                  <a:pt x="0" y="21600"/>
                </a:lnTo>
                <a:lnTo>
                  <a:pt x="4909" y="19951"/>
                </a:lnTo>
                <a:cubicBezTo>
                  <a:pt x="4986" y="19977"/>
                  <a:pt x="5056" y="20057"/>
                  <a:pt x="5136" y="20057"/>
                </a:cubicBezTo>
                <a:lnTo>
                  <a:pt x="20083" y="20057"/>
                </a:lnTo>
                <a:cubicBezTo>
                  <a:pt x="20923" y="20057"/>
                  <a:pt x="21600" y="18560"/>
                  <a:pt x="21600" y="16723"/>
                </a:cubicBezTo>
                <a:lnTo>
                  <a:pt x="21600" y="3334"/>
                </a:lnTo>
                <a:cubicBezTo>
                  <a:pt x="21600" y="1497"/>
                  <a:pt x="20923" y="0"/>
                  <a:pt x="20083" y="0"/>
                </a:cubicBezTo>
                <a:lnTo>
                  <a:pt x="5136" y="0"/>
                </a:lnTo>
                <a:close/>
              </a:path>
            </a:pathLst>
          </a:custGeom>
          <a:solidFill>
            <a:srgbClr val="659FD5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2000" tIns="72000" rIns="0" bIns="72000" anchor="ctr">
            <a:spAutoFit/>
          </a:bodyPr>
          <a:lstStyle>
            <a:lvl1pPr algn="ctr">
              <a:lnSpc>
                <a:spcPct val="8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Control axes: x is from 0 to 10 in steps of  2, y is between 0 and 20</a:t>
            </a:r>
            <a:endParaRPr dirty="0"/>
          </a:p>
        </p:txBody>
      </p:sp>
      <p:sp>
        <p:nvSpPr>
          <p:cNvPr id="13" name="Manipulate Variables">
            <a:extLst>
              <a:ext uri="{FF2B5EF4-FFF2-40B4-BE49-F238E27FC236}">
                <a16:creationId xmlns:a16="http://schemas.microsoft.com/office/drawing/2014/main" id="{8217FBAD-9C94-C6D8-D033-880A8053D379}"/>
              </a:ext>
            </a:extLst>
          </p:cNvPr>
          <p:cNvSpPr txBox="1"/>
          <p:nvPr/>
        </p:nvSpPr>
        <p:spPr>
          <a:xfrm>
            <a:off x="4780778" y="1537907"/>
            <a:ext cx="2821285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2700" tIns="12700" rIns="12700" bIns="12700" anchor="ctr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GB" dirty="0"/>
              <a:t>Common chart types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5F1128-5E3A-B41F-9110-283D409A0A13}"/>
              </a:ext>
            </a:extLst>
          </p:cNvPr>
          <p:cNvSpPr txBox="1"/>
          <p:nvPr/>
        </p:nvSpPr>
        <p:spPr>
          <a:xfrm>
            <a:off x="4723581" y="2080535"/>
            <a:ext cx="4375182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/>
              <a:t>plot &lt;- </a:t>
            </a:r>
            <a:r>
              <a:rPr lang="en-GB" b="0" dirty="0" err="1"/>
              <a:t>ggplot</a:t>
            </a:r>
            <a:r>
              <a:rPr lang="en-GB" b="0" dirty="0"/>
              <a:t>(data = &lt;data&gt;,mapping = </a:t>
            </a:r>
            <a:r>
              <a:rPr lang="en-GB" b="0" dirty="0" err="1"/>
              <a:t>aes</a:t>
            </a:r>
            <a:r>
              <a:rPr lang="en-GB" b="0" dirty="0"/>
              <a:t>(x = &lt;x&gt;, y = &lt;y&gt;)) +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0D3F36-2650-EEAA-23DE-DA85CB6B9BD3}"/>
              </a:ext>
            </a:extLst>
          </p:cNvPr>
          <p:cNvSpPr txBox="1"/>
          <p:nvPr/>
        </p:nvSpPr>
        <p:spPr>
          <a:xfrm>
            <a:off x="5446703" y="3179052"/>
            <a:ext cx="3076594" cy="907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Column chart </a:t>
            </a:r>
          </a:p>
          <a:p>
            <a:r>
              <a:rPr lang="en-GB" b="0" dirty="0"/>
              <a:t>plot + </a:t>
            </a:r>
            <a:r>
              <a:rPr lang="en-GB" dirty="0" err="1"/>
              <a:t>geom_col</a:t>
            </a:r>
            <a:r>
              <a:rPr lang="en-GB" b="0" dirty="0"/>
              <a:t>(width=0.8, fill=&lt;colour&gt;)</a:t>
            </a:r>
          </a:p>
          <a:p>
            <a:endParaRPr lang="en-GB" b="0" dirty="0"/>
          </a:p>
          <a:p>
            <a:r>
              <a:rPr lang="en-GB" b="0" dirty="0"/>
              <a:t>Plots bars at discrete &lt;x&gt; with heights &lt;y&gt;</a:t>
            </a:r>
          </a:p>
        </p:txBody>
      </p:sp>
      <p:grpSp>
        <p:nvGrpSpPr>
          <p:cNvPr id="22" name="Group">
            <a:extLst>
              <a:ext uri="{FF2B5EF4-FFF2-40B4-BE49-F238E27FC236}">
                <a16:creationId xmlns:a16="http://schemas.microsoft.com/office/drawing/2014/main" id="{6123EE4E-DC7C-78A1-C89F-8D4720FF73D7}"/>
              </a:ext>
            </a:extLst>
          </p:cNvPr>
          <p:cNvGrpSpPr/>
          <p:nvPr/>
        </p:nvGrpSpPr>
        <p:grpSpPr>
          <a:xfrm>
            <a:off x="4831727" y="3183333"/>
            <a:ext cx="448425" cy="448545"/>
            <a:chOff x="0" y="0"/>
            <a:chExt cx="448424" cy="448544"/>
          </a:xfrm>
        </p:grpSpPr>
        <p:pic>
          <p:nvPicPr>
            <p:cNvPr id="23" name="Image" descr="Image">
              <a:extLst>
                <a:ext uri="{FF2B5EF4-FFF2-40B4-BE49-F238E27FC236}">
                  <a16:creationId xmlns:a16="http://schemas.microsoft.com/office/drawing/2014/main" id="{577ED421-70C8-79FF-E81C-9E6DE46CDE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027146D6-324C-E88D-D8C9-4790D9EAF775}"/>
                </a:ext>
              </a:extLst>
            </p:cNvPr>
            <p:cNvSpPr/>
            <p:nvPr/>
          </p:nvSpPr>
          <p:spPr>
            <a:xfrm>
              <a:off x="10653" y="391393"/>
              <a:ext cx="76201" cy="57151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5" name="Rectangle">
              <a:extLst>
                <a:ext uri="{FF2B5EF4-FFF2-40B4-BE49-F238E27FC236}">
                  <a16:creationId xmlns:a16="http://schemas.microsoft.com/office/drawing/2014/main" id="{4FCB8DEF-E0D7-ABD8-E9A3-084003E6541B}"/>
                </a:ext>
              </a:extLst>
            </p:cNvPr>
            <p:cNvSpPr/>
            <p:nvPr/>
          </p:nvSpPr>
          <p:spPr>
            <a:xfrm>
              <a:off x="123301" y="349982"/>
              <a:ext cx="76201" cy="98562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A3E46628-C979-78D9-1E20-A2E329E54165}"/>
                </a:ext>
              </a:extLst>
            </p:cNvPr>
            <p:cNvSpPr/>
            <p:nvPr/>
          </p:nvSpPr>
          <p:spPr>
            <a:xfrm>
              <a:off x="235948" y="266307"/>
              <a:ext cx="76201" cy="182238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" name="Rectangle">
              <a:extLst>
                <a:ext uri="{FF2B5EF4-FFF2-40B4-BE49-F238E27FC236}">
                  <a16:creationId xmlns:a16="http://schemas.microsoft.com/office/drawing/2014/main" id="{71BB8312-BBB9-BB7A-33E9-95B490772C24}"/>
                </a:ext>
              </a:extLst>
            </p:cNvPr>
            <p:cNvSpPr/>
            <p:nvPr/>
          </p:nvSpPr>
          <p:spPr>
            <a:xfrm>
              <a:off x="348596" y="122911"/>
              <a:ext cx="76201" cy="325633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</p:grpSp>
      <p:sp>
        <p:nvSpPr>
          <p:cNvPr id="456" name="TextBox 455">
            <a:extLst>
              <a:ext uri="{FF2B5EF4-FFF2-40B4-BE49-F238E27FC236}">
                <a16:creationId xmlns:a16="http://schemas.microsoft.com/office/drawing/2014/main" id="{7EFBE857-AD1C-2154-F314-232F22605FF8}"/>
              </a:ext>
            </a:extLst>
          </p:cNvPr>
          <p:cNvSpPr txBox="1"/>
          <p:nvPr/>
        </p:nvSpPr>
        <p:spPr>
          <a:xfrm>
            <a:off x="4778329" y="5514260"/>
            <a:ext cx="4375182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/>
              <a:t>plot &lt;- </a:t>
            </a:r>
            <a:r>
              <a:rPr lang="en-GB" b="0" dirty="0" err="1"/>
              <a:t>ggplot</a:t>
            </a:r>
            <a:r>
              <a:rPr lang="en-GB" b="0" dirty="0"/>
              <a:t>(data = &lt;data&gt;) +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D01F96E6-C95C-9CA5-AC18-B4C54691786B}"/>
              </a:ext>
            </a:extLst>
          </p:cNvPr>
          <p:cNvSpPr txBox="1"/>
          <p:nvPr/>
        </p:nvSpPr>
        <p:spPr>
          <a:xfrm>
            <a:off x="5437415" y="5862346"/>
            <a:ext cx="3600030" cy="12772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Bar chart</a:t>
            </a:r>
          </a:p>
          <a:p>
            <a:r>
              <a:rPr lang="en-GB" b="0" dirty="0"/>
              <a:t>plot + </a:t>
            </a:r>
            <a:r>
              <a:rPr lang="en-GB" dirty="0" err="1"/>
              <a:t>geom_bar</a:t>
            </a:r>
            <a:r>
              <a:rPr lang="en-GB" b="0" dirty="0"/>
              <a:t>(mapping = </a:t>
            </a:r>
            <a:r>
              <a:rPr lang="en-GB" b="0" dirty="0" err="1"/>
              <a:t>aes</a:t>
            </a:r>
            <a:r>
              <a:rPr lang="en-GB" b="0" dirty="0"/>
              <a:t>(x=&lt;x&gt;, width=0.8, fill=&lt;colour&gt;)</a:t>
            </a:r>
          </a:p>
          <a:p>
            <a:endParaRPr lang="en-GB" b="0" dirty="0"/>
          </a:p>
          <a:p>
            <a:r>
              <a:rPr lang="en-GB" b="0" dirty="0"/>
              <a:t>&lt;x&gt; is categorical, </a:t>
            </a:r>
            <a:r>
              <a:rPr lang="en-GB" b="0" dirty="0" err="1"/>
              <a:t>geom_bar</a:t>
            </a:r>
            <a:r>
              <a:rPr lang="en-GB" b="0" dirty="0"/>
              <a:t> plots the number in each category</a:t>
            </a:r>
          </a:p>
        </p:txBody>
      </p:sp>
      <p:grpSp>
        <p:nvGrpSpPr>
          <p:cNvPr id="460" name="Group">
            <a:extLst>
              <a:ext uri="{FF2B5EF4-FFF2-40B4-BE49-F238E27FC236}">
                <a16:creationId xmlns:a16="http://schemas.microsoft.com/office/drawing/2014/main" id="{3898F66D-CB91-557F-1C5C-3440A1A1E657}"/>
              </a:ext>
            </a:extLst>
          </p:cNvPr>
          <p:cNvGrpSpPr/>
          <p:nvPr/>
        </p:nvGrpSpPr>
        <p:grpSpPr>
          <a:xfrm>
            <a:off x="4822439" y="5866627"/>
            <a:ext cx="448425" cy="448545"/>
            <a:chOff x="0" y="0"/>
            <a:chExt cx="448424" cy="448544"/>
          </a:xfrm>
        </p:grpSpPr>
        <p:pic>
          <p:nvPicPr>
            <p:cNvPr id="461" name="Image" descr="Image">
              <a:extLst>
                <a:ext uri="{FF2B5EF4-FFF2-40B4-BE49-F238E27FC236}">
                  <a16:creationId xmlns:a16="http://schemas.microsoft.com/office/drawing/2014/main" id="{5DB493D9-23FA-69E7-04A0-4DAFCD495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62" name="Rectangle">
              <a:extLst>
                <a:ext uri="{FF2B5EF4-FFF2-40B4-BE49-F238E27FC236}">
                  <a16:creationId xmlns:a16="http://schemas.microsoft.com/office/drawing/2014/main" id="{84BCD9B0-6921-9102-1576-DAD21387F412}"/>
                </a:ext>
              </a:extLst>
            </p:cNvPr>
            <p:cNvSpPr/>
            <p:nvPr/>
          </p:nvSpPr>
          <p:spPr>
            <a:xfrm>
              <a:off x="10653" y="391393"/>
              <a:ext cx="76201" cy="57151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63" name="Rectangle">
              <a:extLst>
                <a:ext uri="{FF2B5EF4-FFF2-40B4-BE49-F238E27FC236}">
                  <a16:creationId xmlns:a16="http://schemas.microsoft.com/office/drawing/2014/main" id="{956D06C4-3A04-A3C5-5660-27AF9CD035C5}"/>
                </a:ext>
              </a:extLst>
            </p:cNvPr>
            <p:cNvSpPr/>
            <p:nvPr/>
          </p:nvSpPr>
          <p:spPr>
            <a:xfrm>
              <a:off x="123301" y="349982"/>
              <a:ext cx="76201" cy="98562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64" name="Rectangle">
              <a:extLst>
                <a:ext uri="{FF2B5EF4-FFF2-40B4-BE49-F238E27FC236}">
                  <a16:creationId xmlns:a16="http://schemas.microsoft.com/office/drawing/2014/main" id="{FBC164E0-C0F8-1470-D708-DCC3F72C4893}"/>
                </a:ext>
              </a:extLst>
            </p:cNvPr>
            <p:cNvSpPr/>
            <p:nvPr/>
          </p:nvSpPr>
          <p:spPr>
            <a:xfrm>
              <a:off x="235948" y="266307"/>
              <a:ext cx="76201" cy="182238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65" name="Rectangle">
              <a:extLst>
                <a:ext uri="{FF2B5EF4-FFF2-40B4-BE49-F238E27FC236}">
                  <a16:creationId xmlns:a16="http://schemas.microsoft.com/office/drawing/2014/main" id="{2A73CD50-D0C3-C45D-B35B-E42E80C854DB}"/>
                </a:ext>
              </a:extLst>
            </p:cNvPr>
            <p:cNvSpPr/>
            <p:nvPr/>
          </p:nvSpPr>
          <p:spPr>
            <a:xfrm>
              <a:off x="348596" y="122911"/>
              <a:ext cx="76201" cy="325633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</p:grpSp>
      <p:grpSp>
        <p:nvGrpSpPr>
          <p:cNvPr id="466" name="Group">
            <a:extLst>
              <a:ext uri="{FF2B5EF4-FFF2-40B4-BE49-F238E27FC236}">
                <a16:creationId xmlns:a16="http://schemas.microsoft.com/office/drawing/2014/main" id="{D5471244-22CB-3E6F-101F-3756A944F1EB}"/>
              </a:ext>
            </a:extLst>
          </p:cNvPr>
          <p:cNvGrpSpPr/>
          <p:nvPr/>
        </p:nvGrpSpPr>
        <p:grpSpPr>
          <a:xfrm rot="5400000">
            <a:off x="6243651" y="9647380"/>
            <a:ext cx="448425" cy="448545"/>
            <a:chOff x="0" y="0"/>
            <a:chExt cx="448424" cy="448544"/>
          </a:xfrm>
        </p:grpSpPr>
        <p:pic>
          <p:nvPicPr>
            <p:cNvPr id="468" name="Image" descr="Image">
              <a:extLst>
                <a:ext uri="{FF2B5EF4-FFF2-40B4-BE49-F238E27FC236}">
                  <a16:creationId xmlns:a16="http://schemas.microsoft.com/office/drawing/2014/main" id="{9832345A-881A-3AA4-96CA-F769D3BD1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69" name="Rectangle">
              <a:extLst>
                <a:ext uri="{FF2B5EF4-FFF2-40B4-BE49-F238E27FC236}">
                  <a16:creationId xmlns:a16="http://schemas.microsoft.com/office/drawing/2014/main" id="{A2B3E742-F969-42A0-6CF7-806A4A521BEE}"/>
                </a:ext>
              </a:extLst>
            </p:cNvPr>
            <p:cNvSpPr/>
            <p:nvPr/>
          </p:nvSpPr>
          <p:spPr>
            <a:xfrm>
              <a:off x="10653" y="391393"/>
              <a:ext cx="76201" cy="57151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70" name="Rectangle">
              <a:extLst>
                <a:ext uri="{FF2B5EF4-FFF2-40B4-BE49-F238E27FC236}">
                  <a16:creationId xmlns:a16="http://schemas.microsoft.com/office/drawing/2014/main" id="{9B7ACCED-2EE4-CA78-5BCC-4EBAF3C85925}"/>
                </a:ext>
              </a:extLst>
            </p:cNvPr>
            <p:cNvSpPr/>
            <p:nvPr/>
          </p:nvSpPr>
          <p:spPr>
            <a:xfrm>
              <a:off x="123301" y="349982"/>
              <a:ext cx="76201" cy="98562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71" name="Rectangle">
              <a:extLst>
                <a:ext uri="{FF2B5EF4-FFF2-40B4-BE49-F238E27FC236}">
                  <a16:creationId xmlns:a16="http://schemas.microsoft.com/office/drawing/2014/main" id="{531A0DB2-DC3E-9D3C-C26A-1DD762DD2471}"/>
                </a:ext>
              </a:extLst>
            </p:cNvPr>
            <p:cNvSpPr/>
            <p:nvPr/>
          </p:nvSpPr>
          <p:spPr>
            <a:xfrm>
              <a:off x="235948" y="266307"/>
              <a:ext cx="76201" cy="182238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472" name="Rectangle">
              <a:extLst>
                <a:ext uri="{FF2B5EF4-FFF2-40B4-BE49-F238E27FC236}">
                  <a16:creationId xmlns:a16="http://schemas.microsoft.com/office/drawing/2014/main" id="{F2072EC3-3F01-E974-A6EF-0F65A6B92B2F}"/>
                </a:ext>
              </a:extLst>
            </p:cNvPr>
            <p:cNvSpPr/>
            <p:nvPr/>
          </p:nvSpPr>
          <p:spPr>
            <a:xfrm>
              <a:off x="348596" y="122911"/>
              <a:ext cx="76201" cy="325633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</p:grpSp>
      <p:sp>
        <p:nvSpPr>
          <p:cNvPr id="473" name="ggplot(mpg, aes(hwy, cty)) +…">
            <a:extLst>
              <a:ext uri="{FF2B5EF4-FFF2-40B4-BE49-F238E27FC236}">
                <a16:creationId xmlns:a16="http://schemas.microsoft.com/office/drawing/2014/main" id="{9D4F910E-615A-476E-343E-7549CAD9746E}"/>
              </a:ext>
            </a:extLst>
          </p:cNvPr>
          <p:cNvSpPr txBox="1"/>
          <p:nvPr/>
        </p:nvSpPr>
        <p:spPr>
          <a:xfrm>
            <a:off x="6203164" y="10225561"/>
            <a:ext cx="732121" cy="47953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 err="1"/>
              <a:t>coord_flip</a:t>
            </a:r>
            <a:r>
              <a:rPr lang="en-GB" sz="800" dirty="0"/>
              <a:t>()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sz="800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Flips chart</a:t>
            </a:r>
            <a:endParaRPr sz="800" dirty="0"/>
          </a:p>
        </p:txBody>
      </p:sp>
      <p:grpSp>
        <p:nvGrpSpPr>
          <p:cNvPr id="474" name="Group">
            <a:extLst>
              <a:ext uri="{FF2B5EF4-FFF2-40B4-BE49-F238E27FC236}">
                <a16:creationId xmlns:a16="http://schemas.microsoft.com/office/drawing/2014/main" id="{F581B646-1367-7A82-4F72-A3163543735A}"/>
              </a:ext>
            </a:extLst>
          </p:cNvPr>
          <p:cNvGrpSpPr/>
          <p:nvPr/>
        </p:nvGrpSpPr>
        <p:grpSpPr>
          <a:xfrm>
            <a:off x="4831727" y="2551262"/>
            <a:ext cx="448426" cy="435562"/>
            <a:chOff x="0" y="0"/>
            <a:chExt cx="448425" cy="448544"/>
          </a:xfrm>
        </p:grpSpPr>
        <p:pic>
          <p:nvPicPr>
            <p:cNvPr id="475" name="Image" descr="Image">
              <a:extLst>
                <a:ext uri="{FF2B5EF4-FFF2-40B4-BE49-F238E27FC236}">
                  <a16:creationId xmlns:a16="http://schemas.microsoft.com/office/drawing/2014/main" id="{84E9BAB9-54E3-2FB0-776F-513C69038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76" name="Line">
              <a:extLst>
                <a:ext uri="{FF2B5EF4-FFF2-40B4-BE49-F238E27FC236}">
                  <a16:creationId xmlns:a16="http://schemas.microsoft.com/office/drawing/2014/main" id="{B4F3B7DE-969A-5925-49E6-4C83B286BFF9}"/>
                </a:ext>
              </a:extLst>
            </p:cNvPr>
            <p:cNvSpPr/>
            <p:nvPr/>
          </p:nvSpPr>
          <p:spPr>
            <a:xfrm>
              <a:off x="2587" y="92697"/>
              <a:ext cx="444185" cy="2756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04" y="20087"/>
                  </a:lnTo>
                  <a:lnTo>
                    <a:pt x="3587" y="18508"/>
                  </a:lnTo>
                  <a:lnTo>
                    <a:pt x="4599" y="16206"/>
                  </a:lnTo>
                  <a:cubicBezTo>
                    <a:pt x="4736" y="15881"/>
                    <a:pt x="4874" y="15555"/>
                    <a:pt x="5011" y="15230"/>
                  </a:cubicBezTo>
                  <a:cubicBezTo>
                    <a:pt x="5148" y="14905"/>
                    <a:pt x="5286" y="14579"/>
                    <a:pt x="5423" y="14254"/>
                  </a:cubicBezTo>
                  <a:cubicBezTo>
                    <a:pt x="5593" y="14819"/>
                    <a:pt x="5762" y="15384"/>
                    <a:pt x="5932" y="15948"/>
                  </a:cubicBezTo>
                  <a:cubicBezTo>
                    <a:pt x="6102" y="16513"/>
                    <a:pt x="6272" y="17078"/>
                    <a:pt x="6442" y="17643"/>
                  </a:cubicBezTo>
                  <a:lnTo>
                    <a:pt x="8078" y="16008"/>
                  </a:lnTo>
                  <a:lnTo>
                    <a:pt x="9272" y="13609"/>
                  </a:lnTo>
                  <a:lnTo>
                    <a:pt x="10499" y="9377"/>
                  </a:lnTo>
                  <a:lnTo>
                    <a:pt x="12208" y="11732"/>
                  </a:lnTo>
                  <a:lnTo>
                    <a:pt x="13281" y="8587"/>
                  </a:lnTo>
                  <a:lnTo>
                    <a:pt x="14507" y="4200"/>
                  </a:lnTo>
                  <a:lnTo>
                    <a:pt x="15513" y="0"/>
                  </a:lnTo>
                  <a:lnTo>
                    <a:pt x="16848" y="4930"/>
                  </a:lnTo>
                  <a:lnTo>
                    <a:pt x="18336" y="3993"/>
                  </a:lnTo>
                  <a:lnTo>
                    <a:pt x="19783" y="9080"/>
                  </a:lnTo>
                  <a:lnTo>
                    <a:pt x="21600" y="13583"/>
                  </a:lnTo>
                </a:path>
              </a:pathLst>
            </a:custGeom>
            <a:noFill/>
            <a:ln w="12700" cap="flat">
              <a:solidFill>
                <a:srgbClr val="659FD5"/>
              </a:solidFill>
              <a:prstDash val="solid"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 algn="ctr">
                <a:spcBef>
                  <a:spcPts val="0"/>
                </a:spcBef>
                <a:defRPr sz="2600" b="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/>
            </a:p>
          </p:txBody>
        </p:sp>
      </p:grpSp>
      <p:sp>
        <p:nvSpPr>
          <p:cNvPr id="477" name="TextBox 476">
            <a:extLst>
              <a:ext uri="{FF2B5EF4-FFF2-40B4-BE49-F238E27FC236}">
                <a16:creationId xmlns:a16="http://schemas.microsoft.com/office/drawing/2014/main" id="{E093B10C-EB97-86D9-574A-120627063E9A}"/>
              </a:ext>
            </a:extLst>
          </p:cNvPr>
          <p:cNvSpPr txBox="1"/>
          <p:nvPr/>
        </p:nvSpPr>
        <p:spPr>
          <a:xfrm>
            <a:off x="5420104" y="2461741"/>
            <a:ext cx="3076594" cy="4873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Line chart </a:t>
            </a:r>
          </a:p>
          <a:p>
            <a:r>
              <a:rPr lang="en-GB" b="0" dirty="0"/>
              <a:t>plot + </a:t>
            </a:r>
            <a:r>
              <a:rPr lang="en-GB" dirty="0" err="1"/>
              <a:t>geom_line</a:t>
            </a:r>
            <a:r>
              <a:rPr lang="en-GB" b="0" dirty="0"/>
              <a:t>(size=1.1)</a:t>
            </a:r>
          </a:p>
        </p:txBody>
      </p:sp>
      <p:pic>
        <p:nvPicPr>
          <p:cNvPr id="479" name="Image" descr="Image">
            <a:extLst>
              <a:ext uri="{FF2B5EF4-FFF2-40B4-BE49-F238E27FC236}">
                <a16:creationId xmlns:a16="http://schemas.microsoft.com/office/drawing/2014/main" id="{85538C1D-5E7D-C8A7-82BF-C83B57F42F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439" y="4165012"/>
            <a:ext cx="448426" cy="448545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491" name="Oval 490">
            <a:extLst>
              <a:ext uri="{FF2B5EF4-FFF2-40B4-BE49-F238E27FC236}">
                <a16:creationId xmlns:a16="http://schemas.microsoft.com/office/drawing/2014/main" id="{DAFE2B7A-9EA4-7F9D-7F4F-DD44FEFD8EED}"/>
              </a:ext>
            </a:extLst>
          </p:cNvPr>
          <p:cNvSpPr>
            <a:spLocks noChangeAspect="1"/>
          </p:cNvSpPr>
          <p:nvPr/>
        </p:nvSpPr>
        <p:spPr>
          <a:xfrm>
            <a:off x="4909293" y="4262110"/>
            <a:ext cx="36000" cy="36000"/>
          </a:xfrm>
          <a:prstGeom prst="ellipse">
            <a:avLst/>
          </a:prstGeom>
          <a:blipFill rotWithShape="1">
            <a:blip r:embed="rId8"/>
            <a:srcRect/>
            <a:tile tx="0" ty="0" sx="100000" sy="100000" flip="none" algn="tl"/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92" name="Oval 491">
            <a:extLst>
              <a:ext uri="{FF2B5EF4-FFF2-40B4-BE49-F238E27FC236}">
                <a16:creationId xmlns:a16="http://schemas.microsoft.com/office/drawing/2014/main" id="{F1CD02DD-1BA0-F0B0-A27B-F43F25758FFD}"/>
              </a:ext>
            </a:extLst>
          </p:cNvPr>
          <p:cNvSpPr>
            <a:spLocks noChangeAspect="1"/>
          </p:cNvSpPr>
          <p:nvPr/>
        </p:nvSpPr>
        <p:spPr>
          <a:xfrm>
            <a:off x="5061693" y="4414510"/>
            <a:ext cx="36000" cy="36000"/>
          </a:xfrm>
          <a:prstGeom prst="ellipse">
            <a:avLst/>
          </a:prstGeom>
          <a:blipFill rotWithShape="1">
            <a:blip r:embed="rId8"/>
            <a:srcRect/>
            <a:tile tx="0" ty="0" sx="100000" sy="100000" flip="none" algn="tl"/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93" name="Oval 492">
            <a:extLst>
              <a:ext uri="{FF2B5EF4-FFF2-40B4-BE49-F238E27FC236}">
                <a16:creationId xmlns:a16="http://schemas.microsoft.com/office/drawing/2014/main" id="{B3FBDDF4-A8AC-6780-FCEC-68665363F01B}"/>
              </a:ext>
            </a:extLst>
          </p:cNvPr>
          <p:cNvSpPr>
            <a:spLocks noChangeAspect="1"/>
          </p:cNvSpPr>
          <p:nvPr/>
        </p:nvSpPr>
        <p:spPr>
          <a:xfrm>
            <a:off x="5144064" y="4306531"/>
            <a:ext cx="36000" cy="36000"/>
          </a:xfrm>
          <a:prstGeom prst="ellipse">
            <a:avLst/>
          </a:prstGeom>
          <a:blipFill rotWithShape="1">
            <a:blip r:embed="rId8"/>
            <a:srcRect/>
            <a:tile tx="0" ty="0" sx="100000" sy="100000" flip="none" algn="tl"/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06" name="Oval 505">
            <a:extLst>
              <a:ext uri="{FF2B5EF4-FFF2-40B4-BE49-F238E27FC236}">
                <a16:creationId xmlns:a16="http://schemas.microsoft.com/office/drawing/2014/main" id="{41A61891-726B-E77A-A025-8F761F52D170}"/>
              </a:ext>
            </a:extLst>
          </p:cNvPr>
          <p:cNvSpPr>
            <a:spLocks noChangeAspect="1"/>
          </p:cNvSpPr>
          <p:nvPr/>
        </p:nvSpPr>
        <p:spPr>
          <a:xfrm>
            <a:off x="5153036" y="4232508"/>
            <a:ext cx="36000" cy="36000"/>
          </a:xfrm>
          <a:prstGeom prst="ellipse">
            <a:avLst/>
          </a:prstGeom>
          <a:blipFill rotWithShape="1">
            <a:blip r:embed="rId8"/>
            <a:srcRect/>
            <a:tile tx="0" ty="0" sx="100000" sy="100000" flip="none" algn="tl"/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07" name="Oval 506">
            <a:extLst>
              <a:ext uri="{FF2B5EF4-FFF2-40B4-BE49-F238E27FC236}">
                <a16:creationId xmlns:a16="http://schemas.microsoft.com/office/drawing/2014/main" id="{9F6BAD43-FB12-142C-8D97-1976E2A49C50}"/>
              </a:ext>
            </a:extLst>
          </p:cNvPr>
          <p:cNvSpPr>
            <a:spLocks noChangeAspect="1"/>
          </p:cNvSpPr>
          <p:nvPr/>
        </p:nvSpPr>
        <p:spPr>
          <a:xfrm>
            <a:off x="5073113" y="4250508"/>
            <a:ext cx="36000" cy="36000"/>
          </a:xfrm>
          <a:prstGeom prst="ellipse">
            <a:avLst/>
          </a:prstGeom>
          <a:blipFill rotWithShape="1">
            <a:blip r:embed="rId8"/>
            <a:srcRect/>
            <a:tile tx="0" ty="0" sx="100000" sy="100000" flip="none" algn="tl"/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E09171A3-3527-36A5-6157-F06E9C778FDC}"/>
              </a:ext>
            </a:extLst>
          </p:cNvPr>
          <p:cNvSpPr txBox="1"/>
          <p:nvPr/>
        </p:nvSpPr>
        <p:spPr>
          <a:xfrm>
            <a:off x="5461126" y="4146962"/>
            <a:ext cx="3076594" cy="6976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Scatter chart </a:t>
            </a:r>
          </a:p>
          <a:p>
            <a:r>
              <a:rPr lang="en-GB" b="0" dirty="0"/>
              <a:t>plot + </a:t>
            </a:r>
            <a:r>
              <a:rPr lang="en-GB" dirty="0" err="1"/>
              <a:t>geom_point</a:t>
            </a:r>
            <a:r>
              <a:rPr lang="en-GB" b="0" dirty="0"/>
              <a:t>(shape=16)</a:t>
            </a:r>
          </a:p>
          <a:p>
            <a:endParaRPr lang="en-GB" b="0" dirty="0"/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B213FD77-C22B-AB3C-962F-74A7DBDF7F8E}"/>
              </a:ext>
            </a:extLst>
          </p:cNvPr>
          <p:cNvSpPr txBox="1"/>
          <p:nvPr/>
        </p:nvSpPr>
        <p:spPr>
          <a:xfrm>
            <a:off x="4722306" y="1893606"/>
            <a:ext cx="8205786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Two variables</a:t>
            </a:r>
          </a:p>
        </p:txBody>
      </p:sp>
      <p:sp>
        <p:nvSpPr>
          <p:cNvPr id="1026" name="TextBox 1025">
            <a:extLst>
              <a:ext uri="{FF2B5EF4-FFF2-40B4-BE49-F238E27FC236}">
                <a16:creationId xmlns:a16="http://schemas.microsoft.com/office/drawing/2014/main" id="{F52086BB-553F-06FA-D701-DE30F9BF81B9}"/>
              </a:ext>
            </a:extLst>
          </p:cNvPr>
          <p:cNvSpPr txBox="1"/>
          <p:nvPr/>
        </p:nvSpPr>
        <p:spPr>
          <a:xfrm>
            <a:off x="4787900" y="5312195"/>
            <a:ext cx="8205786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dirty="0"/>
              <a:t>1 discrete variable</a:t>
            </a:r>
          </a:p>
        </p:txBody>
      </p:sp>
      <p:grpSp>
        <p:nvGrpSpPr>
          <p:cNvPr id="1029" name="Group">
            <a:extLst>
              <a:ext uri="{FF2B5EF4-FFF2-40B4-BE49-F238E27FC236}">
                <a16:creationId xmlns:a16="http://schemas.microsoft.com/office/drawing/2014/main" id="{33B6B141-1090-34AC-3714-918838618358}"/>
              </a:ext>
            </a:extLst>
          </p:cNvPr>
          <p:cNvGrpSpPr/>
          <p:nvPr/>
        </p:nvGrpSpPr>
        <p:grpSpPr>
          <a:xfrm>
            <a:off x="7409803" y="9631517"/>
            <a:ext cx="448425" cy="448545"/>
            <a:chOff x="0" y="0"/>
            <a:chExt cx="448424" cy="448544"/>
          </a:xfrm>
        </p:grpSpPr>
        <p:pic>
          <p:nvPicPr>
            <p:cNvPr id="1030" name="Image" descr="Image">
              <a:extLst>
                <a:ext uri="{FF2B5EF4-FFF2-40B4-BE49-F238E27FC236}">
                  <a16:creationId xmlns:a16="http://schemas.microsoft.com/office/drawing/2014/main" id="{10876205-C7A0-1B82-1F72-FDBA2EE9C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448425" cy="4485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31" name="Rectangle">
              <a:extLst>
                <a:ext uri="{FF2B5EF4-FFF2-40B4-BE49-F238E27FC236}">
                  <a16:creationId xmlns:a16="http://schemas.microsoft.com/office/drawing/2014/main" id="{D219BE38-2A4D-AAB4-34C5-2C08A10B663B}"/>
                </a:ext>
              </a:extLst>
            </p:cNvPr>
            <p:cNvSpPr/>
            <p:nvPr/>
          </p:nvSpPr>
          <p:spPr>
            <a:xfrm>
              <a:off x="10653" y="391393"/>
              <a:ext cx="76201" cy="57151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032" name="Rectangle">
              <a:extLst>
                <a:ext uri="{FF2B5EF4-FFF2-40B4-BE49-F238E27FC236}">
                  <a16:creationId xmlns:a16="http://schemas.microsoft.com/office/drawing/2014/main" id="{CBE1F0C8-3A03-14EC-A3AE-B84163EE5EAF}"/>
                </a:ext>
              </a:extLst>
            </p:cNvPr>
            <p:cNvSpPr/>
            <p:nvPr/>
          </p:nvSpPr>
          <p:spPr>
            <a:xfrm>
              <a:off x="123301" y="349982"/>
              <a:ext cx="76201" cy="98562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033" name="Rectangle">
              <a:extLst>
                <a:ext uri="{FF2B5EF4-FFF2-40B4-BE49-F238E27FC236}">
                  <a16:creationId xmlns:a16="http://schemas.microsoft.com/office/drawing/2014/main" id="{8032B036-54E3-25CD-F995-AFB7EE15DA77}"/>
                </a:ext>
              </a:extLst>
            </p:cNvPr>
            <p:cNvSpPr/>
            <p:nvPr/>
          </p:nvSpPr>
          <p:spPr>
            <a:xfrm>
              <a:off x="235948" y="266307"/>
              <a:ext cx="76201" cy="182238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034" name="Rectangle">
              <a:extLst>
                <a:ext uri="{FF2B5EF4-FFF2-40B4-BE49-F238E27FC236}">
                  <a16:creationId xmlns:a16="http://schemas.microsoft.com/office/drawing/2014/main" id="{5E09F9D2-4041-FE83-ED83-061E37EB6B70}"/>
                </a:ext>
              </a:extLst>
            </p:cNvPr>
            <p:cNvSpPr/>
            <p:nvPr/>
          </p:nvSpPr>
          <p:spPr>
            <a:xfrm>
              <a:off x="348596" y="122911"/>
              <a:ext cx="76201" cy="325633"/>
            </a:xfrm>
            <a:prstGeom prst="rect">
              <a:avLst/>
            </a:prstGeom>
            <a:solidFill>
              <a:srgbClr val="659FD5"/>
            </a:solidFill>
            <a:ln w="12700" cap="flat">
              <a:noFill/>
              <a:miter lim="400000"/>
            </a:ln>
            <a:effectLst/>
          </p:spPr>
          <p:txBody>
            <a:bodyPr wrap="square" lIns="54570" tIns="54570" rIns="54570" bIns="54570" numCol="1" anchor="ctr">
              <a:noAutofit/>
            </a:bodyPr>
            <a:lstStyle/>
            <a:p>
              <a:pPr>
                <a:lnSpc>
                  <a:spcPct val="80000"/>
                </a:lnSpc>
                <a:spcBef>
                  <a:spcPts val="0"/>
                </a:spcBef>
                <a:defRPr b="0">
                  <a:solidFill>
                    <a:srgbClr val="000000"/>
                  </a:solidFill>
                </a:defRPr>
              </a:pPr>
              <a:endParaRPr/>
            </a:p>
          </p:txBody>
        </p:sp>
      </p:grpSp>
      <p:sp>
        <p:nvSpPr>
          <p:cNvPr id="1036" name="TextBox 1035">
            <a:extLst>
              <a:ext uri="{FF2B5EF4-FFF2-40B4-BE49-F238E27FC236}">
                <a16:creationId xmlns:a16="http://schemas.microsoft.com/office/drawing/2014/main" id="{6EE0471A-727E-6021-9850-90EAE09A705B}"/>
              </a:ext>
            </a:extLst>
          </p:cNvPr>
          <p:cNvSpPr txBox="1"/>
          <p:nvPr/>
        </p:nvSpPr>
        <p:spPr>
          <a:xfrm>
            <a:off x="7281807" y="9950272"/>
            <a:ext cx="138650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8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0                    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10639C4E-3FA9-3AB5-F3EA-F4BBE663DDF3}"/>
              </a:ext>
            </a:extLst>
          </p:cNvPr>
          <p:cNvSpPr txBox="1"/>
          <p:nvPr/>
        </p:nvSpPr>
        <p:spPr>
          <a:xfrm>
            <a:off x="7217686" y="9509250"/>
            <a:ext cx="232598" cy="2589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800" dirty="0"/>
              <a:t>10</a:t>
            </a:r>
            <a:r>
              <a:rPr kumimoji="0" lang="en-GB" sz="800" b="1" i="0" u="none" strike="noStrike" cap="none" spc="0" normalizeH="0" baseline="0" dirty="0">
                <a:ln>
                  <a:noFill/>
                </a:ln>
                <a:solidFill>
                  <a:srgbClr val="4C4C4C"/>
                </a:solidFill>
                <a:effectLst/>
                <a:uFillTx/>
                <a:latin typeface="Source Sans Pro"/>
                <a:ea typeface="Source Sans Pro"/>
                <a:cs typeface="Source Sans Pro"/>
                <a:sym typeface="Source Sans Pro"/>
              </a:rPr>
              <a:t>                    </a:t>
            </a:r>
          </a:p>
        </p:txBody>
      </p:sp>
      <p:sp>
        <p:nvSpPr>
          <p:cNvPr id="1040" name="ggplot(mpg, aes(hwy, cty)) +…">
            <a:extLst>
              <a:ext uri="{FF2B5EF4-FFF2-40B4-BE49-F238E27FC236}">
                <a16:creationId xmlns:a16="http://schemas.microsoft.com/office/drawing/2014/main" id="{E610D9B9-2AC0-77B3-DB93-9174C2683952}"/>
              </a:ext>
            </a:extLst>
          </p:cNvPr>
          <p:cNvSpPr txBox="1"/>
          <p:nvPr/>
        </p:nvSpPr>
        <p:spPr>
          <a:xfrm>
            <a:off x="6935285" y="10217573"/>
            <a:ext cx="1699128" cy="47953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AA9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4570" tIns="54570" rIns="54570" bIns="54570" anchor="ctr">
            <a:spAutoFit/>
          </a:bodyPr>
          <a:lstStyle/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 err="1"/>
              <a:t>scale_y_continuous</a:t>
            </a:r>
            <a:r>
              <a:rPr lang="en-GB" sz="800" dirty="0"/>
              <a:t>(expand=c(0,0))</a:t>
            </a:r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endParaRPr lang="en-GB" sz="800" dirty="0"/>
          </a:p>
          <a:p>
            <a:pPr>
              <a:spcBef>
                <a:spcPts val="0"/>
              </a:spcBef>
              <a:defRPr b="0">
                <a:solidFill>
                  <a:srgbClr val="000000"/>
                </a:solidFill>
                <a:latin typeface="Menlo"/>
                <a:ea typeface="Menlo"/>
                <a:cs typeface="Menlo"/>
                <a:sym typeface="Menlo"/>
              </a:defRPr>
            </a:pPr>
            <a:r>
              <a:rPr lang="en-GB" sz="800" dirty="0"/>
              <a:t>Turns of axis expansion for y axis</a:t>
            </a:r>
            <a:endParaRPr sz="800" dirty="0"/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B49B0BCD-CA83-4111-EF31-5E7C5D1CA18E}"/>
              </a:ext>
            </a:extLst>
          </p:cNvPr>
          <p:cNvSpPr txBox="1"/>
          <p:nvPr/>
        </p:nvSpPr>
        <p:spPr>
          <a:xfrm>
            <a:off x="9205103" y="5936561"/>
            <a:ext cx="4469615" cy="3661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r>
              <a:rPr lang="en-GB" sz="1100" b="0" dirty="0"/>
              <a:t>Scales map data values to the visual values of an aesthetic. This can be mapping ‘</a:t>
            </a:r>
            <a:r>
              <a:rPr lang="en-GB" sz="1100" b="0" dirty="0" err="1"/>
              <a:t>color</a:t>
            </a:r>
            <a:r>
              <a:rPr lang="en-GB" sz="1100" b="0" dirty="0"/>
              <a:t>’ or ‘fill’ to one of the available palettes</a:t>
            </a:r>
            <a:endParaRPr lang="en-GB" sz="1100" dirty="0"/>
          </a:p>
        </p:txBody>
      </p:sp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4C4C4C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a8f77787-5df4-43b6-a2a8-8d8b678a318b}" enabled="1" method="Standard" siteId="{1ce6dd9e-b337-4088-be5e-8dbbec04b34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10296</TotalTime>
  <Words>755</Words>
  <Application>Microsoft Office PowerPoint</Application>
  <PresentationFormat>Custom</PresentationFormat>
  <Paragraphs>113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Avenir</vt:lpstr>
      <vt:lpstr>Helvetica Light</vt:lpstr>
      <vt:lpstr>National-LFSN Book</vt:lpstr>
      <vt:lpstr>National-LFSN Semibd</vt:lpstr>
      <vt:lpstr>Source Sans Pro</vt:lpstr>
      <vt:lpstr>Source Sans Pro Light</vt:lpstr>
      <vt:lpstr>Source Sans Pro Semibold</vt:lpstr>
      <vt:lpstr>White</vt:lpstr>
      <vt:lpstr>Data visualisation with clcharts: : CHEAT SHEET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Column Layout : : CHEAT SHEET</dc:title>
  <dc:creator>LEEN, Gayle</dc:creator>
  <cp:lastModifiedBy>LEEN, Gayle</cp:lastModifiedBy>
  <cp:revision>23</cp:revision>
  <dcterms:modified xsi:type="dcterms:W3CDTF">2026-06-04T11:56:37Z</dcterms:modified>
</cp:coreProperties>
</file>